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8"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935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84A"/>
        </a:solidFill>
        <a:effectLst/>
      </p:bgPr>
    </p:bg>
    <p:spTree>
      <p:nvGrpSpPr>
        <p:cNvPr id="1" name=""/>
        <p:cNvGrpSpPr/>
        <p:nvPr/>
      </p:nvGrpSpPr>
      <p:grpSpPr>
        <a:xfrm>
          <a:off x="0" y="0"/>
          <a:ext cx="0" cy="0"/>
          <a:chOff x="0" y="0"/>
          <a:chExt cx="0" cy="0"/>
        </a:xfrm>
      </p:grpSpPr>
      <p:sp>
        <p:nvSpPr>
          <p:cNvPr id="2" name="Text 0"/>
          <p:cNvSpPr/>
          <p:nvPr/>
        </p:nvSpPr>
        <p:spPr>
          <a:xfrm>
            <a:off x="457200" y="822960"/>
            <a:ext cx="5486400" cy="274320"/>
          </a:xfrm>
          <a:prstGeom prst="rect">
            <a:avLst/>
          </a:prstGeom>
          <a:noFill/>
          <a:ln/>
        </p:spPr>
        <p:txBody>
          <a:bodyPr wrap="square" lIns="0" tIns="0" rIns="0" bIns="0" rtlCol="0" anchor="ctr"/>
          <a:lstStyle/>
          <a:p>
            <a:pPr marL="0" indent="0">
              <a:buNone/>
            </a:pPr>
            <a:r>
              <a:rPr lang="en-US" sz="1100" b="1" kern="0" spc="600" dirty="0">
                <a:solidFill>
                  <a:srgbClr val="007886"/>
                </a:solidFill>
                <a:latin typeface="Calibri" pitchFamily="34" charset="0"/>
                <a:ea typeface="Calibri" pitchFamily="34" charset="-122"/>
                <a:cs typeface="Calibri" pitchFamily="34" charset="-120"/>
              </a:rPr>
              <a:t>EXECUTIVE BRIEFING</a:t>
            </a:r>
            <a:endParaRPr lang="en-US" sz="1100" dirty="0"/>
          </a:p>
        </p:txBody>
      </p:sp>
      <p:sp>
        <p:nvSpPr>
          <p:cNvPr id="3" name="Shape 1"/>
          <p:cNvSpPr/>
          <p:nvPr/>
        </p:nvSpPr>
        <p:spPr>
          <a:xfrm>
            <a:off x="457200" y="1097280"/>
            <a:ext cx="822960" cy="36576"/>
          </a:xfrm>
          <a:prstGeom prst="rect">
            <a:avLst/>
          </a:prstGeom>
          <a:solidFill>
            <a:srgbClr val="007886"/>
          </a:solidFill>
          <a:ln w="12700">
            <a:solidFill>
              <a:srgbClr val="007886"/>
            </a:solidFill>
            <a:prstDash val="solid"/>
          </a:ln>
        </p:spPr>
      </p:sp>
      <p:sp>
        <p:nvSpPr>
          <p:cNvPr id="4" name="Text 2"/>
          <p:cNvSpPr/>
          <p:nvPr/>
        </p:nvSpPr>
        <p:spPr>
          <a:xfrm>
            <a:off x="457200" y="1234440"/>
            <a:ext cx="8229600" cy="82296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The AI-SDLC Loop</a:t>
            </a:r>
            <a:endParaRPr lang="en-US" sz="4600" dirty="0"/>
          </a:p>
        </p:txBody>
      </p:sp>
      <p:sp>
        <p:nvSpPr>
          <p:cNvPr id="5" name="Text 3"/>
          <p:cNvSpPr/>
          <p:nvPr/>
        </p:nvSpPr>
        <p:spPr>
          <a:xfrm>
            <a:off x="457200" y="214884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does the work — </a:t>
            </a:r>
            <a:r>
              <a:rPr lang="en-US" sz="2200" b="1" dirty="0">
                <a:solidFill>
                  <a:srgbClr val="007886"/>
                </a:solidFill>
                <a:latin typeface="Calibri" pitchFamily="34" charset="0"/>
                <a:ea typeface="Calibri" pitchFamily="34" charset="-122"/>
                <a:cs typeface="Calibri" pitchFamily="34" charset="-120"/>
              </a:rPr>
              <a:t>humans approve every critical gate.</a:t>
            </a:r>
            <a:endParaRPr lang="en-US" sz="2200" dirty="0"/>
          </a:p>
        </p:txBody>
      </p:sp>
      <p:sp>
        <p:nvSpPr>
          <p:cNvPr id="6" name="Text 4"/>
          <p:cNvSpPr/>
          <p:nvPr/>
        </p:nvSpPr>
        <p:spPr>
          <a:xfrm>
            <a:off x="457200" y="2788920"/>
            <a:ext cx="7315200" cy="64008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 tool-agnostic process for our developer team. Powered by GitHub Copilot today, portable to any AI tomorrow.</a:t>
            </a:r>
            <a:endParaRPr lang="en-US" sz="1300" dirty="0"/>
          </a:p>
        </p:txBody>
      </p:sp>
      <p:sp>
        <p:nvSpPr>
          <p:cNvPr id="7" name="Text 5"/>
          <p:cNvSpPr/>
          <p:nvPr/>
        </p:nvSpPr>
        <p:spPr>
          <a:xfrm>
            <a:off x="457200" y="4663440"/>
            <a:ext cx="548640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2026</a:t>
            </a:r>
            <a:endParaRPr lang="en-US" sz="1100" dirty="0"/>
          </a:p>
        </p:txBody>
      </p:sp>
      <p:sp>
        <p:nvSpPr>
          <p:cNvPr id="8" name="Text 6"/>
          <p:cNvSpPr/>
          <p:nvPr/>
        </p:nvSpPr>
        <p:spPr>
          <a:xfrm>
            <a:off x="8503920" y="4663440"/>
            <a:ext cx="365760" cy="27432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WHERE THE TIME GOES</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1097280"/>
          </a:xfrm>
          <a:prstGeom prst="rect">
            <a:avLst/>
          </a:prstGeom>
          <a:noFill/>
          <a:ln/>
        </p:spPr>
        <p:txBody>
          <a:bodyPr wrap="square" lIns="0" tIns="0" rIns="0" bIns="0" rtlCol="0" anchor="ctr"/>
          <a:lstStyle/>
          <a:p>
            <a:pPr marL="0" indent="0">
              <a:buNone/>
            </a:pPr>
            <a:r>
              <a:rPr lang="en-US" sz="3200" b="1" dirty="0">
                <a:solidFill>
                  <a:srgbClr val="003F68"/>
                </a:solidFill>
                <a:latin typeface="Calibri" pitchFamily="34" charset="0"/>
                <a:ea typeface="Calibri" pitchFamily="34" charset="-122"/>
                <a:cs typeface="Calibri" pitchFamily="34" charset="-120"/>
              </a:rPr>
              <a:t>We lose </a:t>
            </a:r>
            <a:r>
              <a:rPr lang="en-US" sz="3200" b="1" dirty="0">
                <a:solidFill>
                  <a:srgbClr val="E3780D"/>
                </a:solidFill>
                <a:latin typeface="Calibri" pitchFamily="34" charset="0"/>
                <a:ea typeface="Calibri" pitchFamily="34" charset="-122"/>
                <a:cs typeface="Calibri" pitchFamily="34" charset="-120"/>
              </a:rPr>
              <a:t>60-70%</a:t>
            </a:r>
            <a:r>
              <a:rPr lang="en-US" sz="3200" b="1" dirty="0">
                <a:solidFill>
                  <a:srgbClr val="003F68"/>
                </a:solidFill>
                <a:latin typeface="Calibri" pitchFamily="34" charset="0"/>
                <a:ea typeface="Calibri" pitchFamily="34" charset="-122"/>
                <a:cs typeface="Calibri" pitchFamily="34" charset="-120"/>
              </a:rPr>
              <a:t> of sprint capacity</a:t>
            </a:r>
            <a:endParaRPr lang="en-US" sz="3200" dirty="0"/>
          </a:p>
          <a:p>
            <a:pPr marL="0" indent="0">
              <a:buNone/>
            </a:pPr>
            <a:r>
              <a:rPr lang="en-US" sz="3200" b="1" dirty="0">
                <a:solidFill>
                  <a:srgbClr val="003F68"/>
                </a:solidFill>
                <a:latin typeface="Calibri" pitchFamily="34" charset="0"/>
                <a:ea typeface="Calibri" pitchFamily="34" charset="-122"/>
                <a:cs typeface="Calibri" pitchFamily="34" charset="-120"/>
              </a:rPr>
              <a:t>to process, not product.</a:t>
            </a:r>
            <a:endParaRPr lang="en-US" sz="3200" dirty="0"/>
          </a:p>
        </p:txBody>
      </p:sp>
      <p:sp>
        <p:nvSpPr>
          <p:cNvPr id="5" name="Shape 3"/>
          <p:cNvSpPr/>
          <p:nvPr/>
        </p:nvSpPr>
        <p:spPr>
          <a:xfrm>
            <a:off x="365760" y="2103120"/>
            <a:ext cx="1965960" cy="45720"/>
          </a:xfrm>
          <a:prstGeom prst="rect">
            <a:avLst/>
          </a:prstGeom>
          <a:solidFill>
            <a:srgbClr val="007886"/>
          </a:solidFill>
          <a:ln w="12700">
            <a:solidFill>
              <a:srgbClr val="007886"/>
            </a:solidFill>
            <a:prstDash val="solid"/>
          </a:ln>
        </p:spPr>
      </p:sp>
      <p:sp>
        <p:nvSpPr>
          <p:cNvPr id="6" name="Shape 4"/>
          <p:cNvSpPr/>
          <p:nvPr/>
        </p:nvSpPr>
        <p:spPr>
          <a:xfrm>
            <a:off x="365760" y="2103120"/>
            <a:ext cx="1965960" cy="2103120"/>
          </a:xfrm>
          <a:prstGeom prst="rect">
            <a:avLst/>
          </a:prstGeom>
          <a:solidFill>
            <a:srgbClr val="FFFFFF"/>
          </a:solidFill>
          <a:ln w="9525">
            <a:solidFill>
              <a:srgbClr val="D9D8D7"/>
            </a:solidFill>
            <a:prstDash val="solid"/>
          </a:ln>
        </p:spPr>
      </p:sp>
      <p:sp>
        <p:nvSpPr>
          <p:cNvPr id="7" name="Text 5"/>
          <p:cNvSpPr/>
          <p:nvPr/>
        </p:nvSpPr>
        <p:spPr>
          <a:xfrm>
            <a:off x="365760" y="2240280"/>
            <a:ext cx="1965960" cy="777240"/>
          </a:xfrm>
          <a:prstGeom prst="rect">
            <a:avLst/>
          </a:prstGeom>
          <a:noFill/>
          <a:ln/>
        </p:spPr>
        <p:txBody>
          <a:bodyPr wrap="square" lIns="0" tIns="0" rIns="0" bIns="0" rtlCol="0" anchor="ctr"/>
          <a:lstStyle/>
          <a:p>
            <a:pPr marL="0" indent="0" algn="ctr">
              <a:buNone/>
            </a:pPr>
            <a:r>
              <a:rPr lang="en-US" sz="4000" b="1" dirty="0">
                <a:solidFill>
                  <a:srgbClr val="007886"/>
                </a:solidFill>
                <a:latin typeface="Calibri" pitchFamily="34" charset="0"/>
                <a:ea typeface="Calibri" pitchFamily="34" charset="-122"/>
                <a:cs typeface="Calibri" pitchFamily="34" charset="-120"/>
              </a:rPr>
              <a:t>70%</a:t>
            </a:r>
            <a:endParaRPr lang="en-US" sz="4000" dirty="0"/>
          </a:p>
        </p:txBody>
      </p:sp>
      <p:sp>
        <p:nvSpPr>
          <p:cNvPr id="8" name="Text 6"/>
          <p:cNvSpPr/>
          <p:nvPr/>
        </p:nvSpPr>
        <p:spPr>
          <a:xfrm>
            <a:off x="457200" y="3063240"/>
            <a:ext cx="1783080" cy="36576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Lost to Ceremony</a:t>
            </a:r>
            <a:endParaRPr lang="en-US" sz="1300" dirty="0"/>
          </a:p>
        </p:txBody>
      </p:sp>
      <p:sp>
        <p:nvSpPr>
          <p:cNvPr id="9" name="Text 7"/>
          <p:cNvSpPr/>
          <p:nvPr/>
        </p:nvSpPr>
        <p:spPr>
          <a:xfrm>
            <a:off x="457200" y="3429000"/>
            <a:ext cx="1783080" cy="73152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Tickets, breakdowns, PRs, status updates — not product work</a:t>
            </a:r>
            <a:endParaRPr lang="en-US" sz="1000" dirty="0"/>
          </a:p>
        </p:txBody>
      </p:sp>
      <p:sp>
        <p:nvSpPr>
          <p:cNvPr id="10" name="Shape 8"/>
          <p:cNvSpPr/>
          <p:nvPr/>
        </p:nvSpPr>
        <p:spPr>
          <a:xfrm>
            <a:off x="2514600" y="2103120"/>
            <a:ext cx="1965960" cy="45720"/>
          </a:xfrm>
          <a:prstGeom prst="rect">
            <a:avLst/>
          </a:prstGeom>
          <a:solidFill>
            <a:srgbClr val="E3780D"/>
          </a:solidFill>
          <a:ln w="12700">
            <a:solidFill>
              <a:srgbClr val="E3780D"/>
            </a:solidFill>
            <a:prstDash val="solid"/>
          </a:ln>
        </p:spPr>
      </p:sp>
      <p:sp>
        <p:nvSpPr>
          <p:cNvPr id="11" name="Shape 9"/>
          <p:cNvSpPr/>
          <p:nvPr/>
        </p:nvSpPr>
        <p:spPr>
          <a:xfrm>
            <a:off x="2514600" y="2103120"/>
            <a:ext cx="1965960" cy="2103120"/>
          </a:xfrm>
          <a:prstGeom prst="rect">
            <a:avLst/>
          </a:prstGeom>
          <a:solidFill>
            <a:srgbClr val="FFFFFF"/>
          </a:solidFill>
          <a:ln w="9525">
            <a:solidFill>
              <a:srgbClr val="D9D8D7"/>
            </a:solidFill>
            <a:prstDash val="solid"/>
          </a:ln>
        </p:spPr>
      </p:sp>
      <p:sp>
        <p:nvSpPr>
          <p:cNvPr id="12" name="Text 10"/>
          <p:cNvSpPr/>
          <p:nvPr/>
        </p:nvSpPr>
        <p:spPr>
          <a:xfrm>
            <a:off x="2514600" y="2240280"/>
            <a:ext cx="1965960" cy="777240"/>
          </a:xfrm>
          <a:prstGeom prst="rect">
            <a:avLst/>
          </a:prstGeom>
          <a:noFill/>
          <a:ln/>
        </p:spPr>
        <p:txBody>
          <a:bodyPr wrap="square" lIns="0" tIns="0" rIns="0" bIns="0" rtlCol="0" anchor="ctr"/>
          <a:lstStyle/>
          <a:p>
            <a:pPr marL="0" indent="0" algn="ctr">
              <a:buNone/>
            </a:pPr>
            <a:r>
              <a:rPr lang="en-US" sz="4000" b="1" dirty="0">
                <a:solidFill>
                  <a:srgbClr val="E3780D"/>
                </a:solidFill>
                <a:latin typeface="Calibri" pitchFamily="34" charset="0"/>
                <a:ea typeface="Calibri" pitchFamily="34" charset="-122"/>
                <a:cs typeface="Calibri" pitchFamily="34" charset="-120"/>
              </a:rPr>
              <a:t>3-5d</a:t>
            </a:r>
            <a:endParaRPr lang="en-US" sz="4000" dirty="0"/>
          </a:p>
        </p:txBody>
      </p:sp>
      <p:sp>
        <p:nvSpPr>
          <p:cNvPr id="13" name="Text 11"/>
          <p:cNvSpPr/>
          <p:nvPr/>
        </p:nvSpPr>
        <p:spPr>
          <a:xfrm>
            <a:off x="2606040" y="3063240"/>
            <a:ext cx="1783080" cy="36576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Requirement to PR</a:t>
            </a:r>
            <a:endParaRPr lang="en-US" sz="1300" dirty="0"/>
          </a:p>
        </p:txBody>
      </p:sp>
      <p:sp>
        <p:nvSpPr>
          <p:cNvPr id="14" name="Text 12"/>
          <p:cNvSpPr/>
          <p:nvPr/>
        </p:nvSpPr>
        <p:spPr>
          <a:xfrm>
            <a:off x="2606040" y="3429000"/>
            <a:ext cx="1783080" cy="73152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From clarification to merged code today — per story</a:t>
            </a:r>
            <a:endParaRPr lang="en-US" sz="1000" dirty="0"/>
          </a:p>
        </p:txBody>
      </p:sp>
      <p:sp>
        <p:nvSpPr>
          <p:cNvPr id="15" name="Shape 13"/>
          <p:cNvSpPr/>
          <p:nvPr/>
        </p:nvSpPr>
        <p:spPr>
          <a:xfrm>
            <a:off x="4663440" y="2103120"/>
            <a:ext cx="1965960" cy="45720"/>
          </a:xfrm>
          <a:prstGeom prst="rect">
            <a:avLst/>
          </a:prstGeom>
          <a:solidFill>
            <a:srgbClr val="462C67"/>
          </a:solidFill>
          <a:ln w="12700">
            <a:solidFill>
              <a:srgbClr val="462C67"/>
            </a:solidFill>
            <a:prstDash val="solid"/>
          </a:ln>
        </p:spPr>
      </p:sp>
      <p:sp>
        <p:nvSpPr>
          <p:cNvPr id="16" name="Shape 14"/>
          <p:cNvSpPr/>
          <p:nvPr/>
        </p:nvSpPr>
        <p:spPr>
          <a:xfrm>
            <a:off x="4663440" y="2103120"/>
            <a:ext cx="1965960" cy="2103120"/>
          </a:xfrm>
          <a:prstGeom prst="rect">
            <a:avLst/>
          </a:prstGeom>
          <a:solidFill>
            <a:srgbClr val="FFFFFF"/>
          </a:solidFill>
          <a:ln w="9525">
            <a:solidFill>
              <a:srgbClr val="D9D8D7"/>
            </a:solidFill>
            <a:prstDash val="solid"/>
          </a:ln>
        </p:spPr>
      </p:sp>
      <p:sp>
        <p:nvSpPr>
          <p:cNvPr id="17" name="Text 15"/>
          <p:cNvSpPr/>
          <p:nvPr/>
        </p:nvSpPr>
        <p:spPr>
          <a:xfrm>
            <a:off x="4663440" y="2240280"/>
            <a:ext cx="1965960" cy="777240"/>
          </a:xfrm>
          <a:prstGeom prst="rect">
            <a:avLst/>
          </a:prstGeom>
          <a:noFill/>
          <a:ln/>
        </p:spPr>
        <p:txBody>
          <a:bodyPr wrap="square" lIns="0" tIns="0" rIns="0" bIns="0" rtlCol="0" anchor="ctr"/>
          <a:lstStyle/>
          <a:p>
            <a:pPr marL="0" indent="0" algn="ctr">
              <a:buNone/>
            </a:pPr>
            <a:r>
              <a:rPr lang="en-US" sz="4000" b="1" dirty="0">
                <a:solidFill>
                  <a:srgbClr val="462C67"/>
                </a:solidFill>
                <a:latin typeface="Calibri" pitchFamily="34" charset="0"/>
                <a:ea typeface="Calibri" pitchFamily="34" charset="-122"/>
                <a:cs typeface="Calibri" pitchFamily="34" charset="-120"/>
              </a:rPr>
              <a:t>15-25%</a:t>
            </a:r>
            <a:endParaRPr lang="en-US" sz="4000" dirty="0"/>
          </a:p>
        </p:txBody>
      </p:sp>
      <p:sp>
        <p:nvSpPr>
          <p:cNvPr id="18" name="Text 16"/>
          <p:cNvSpPr/>
          <p:nvPr/>
        </p:nvSpPr>
        <p:spPr>
          <a:xfrm>
            <a:off x="4754880" y="3063240"/>
            <a:ext cx="1783080" cy="36576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Rework Rate</a:t>
            </a:r>
            <a:endParaRPr lang="en-US" sz="1300" dirty="0"/>
          </a:p>
        </p:txBody>
      </p:sp>
      <p:sp>
        <p:nvSpPr>
          <p:cNvPr id="19" name="Text 17"/>
          <p:cNvSpPr/>
          <p:nvPr/>
        </p:nvSpPr>
        <p:spPr>
          <a:xfrm>
            <a:off x="4754880" y="3429000"/>
            <a:ext cx="1783080" cy="73152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Sprint capacity burned re-doing work from misread PRDs</a:t>
            </a:r>
            <a:endParaRPr lang="en-US" sz="1000" dirty="0"/>
          </a:p>
        </p:txBody>
      </p:sp>
      <p:sp>
        <p:nvSpPr>
          <p:cNvPr id="20" name="Shape 18"/>
          <p:cNvSpPr/>
          <p:nvPr/>
        </p:nvSpPr>
        <p:spPr>
          <a:xfrm>
            <a:off x="6812280" y="2103120"/>
            <a:ext cx="1965960" cy="45720"/>
          </a:xfrm>
          <a:prstGeom prst="rect">
            <a:avLst/>
          </a:prstGeom>
          <a:solidFill>
            <a:srgbClr val="44790B"/>
          </a:solidFill>
          <a:ln w="12700">
            <a:solidFill>
              <a:srgbClr val="44790B"/>
            </a:solidFill>
            <a:prstDash val="solid"/>
          </a:ln>
        </p:spPr>
      </p:sp>
      <p:sp>
        <p:nvSpPr>
          <p:cNvPr id="21" name="Shape 19"/>
          <p:cNvSpPr/>
          <p:nvPr/>
        </p:nvSpPr>
        <p:spPr>
          <a:xfrm>
            <a:off x="6812280" y="2103120"/>
            <a:ext cx="1965960" cy="2103120"/>
          </a:xfrm>
          <a:prstGeom prst="rect">
            <a:avLst/>
          </a:prstGeom>
          <a:solidFill>
            <a:srgbClr val="FFFFFF"/>
          </a:solidFill>
          <a:ln w="9525">
            <a:solidFill>
              <a:srgbClr val="D9D8D7"/>
            </a:solidFill>
            <a:prstDash val="solid"/>
          </a:ln>
        </p:spPr>
      </p:sp>
      <p:sp>
        <p:nvSpPr>
          <p:cNvPr id="22" name="Text 20"/>
          <p:cNvSpPr/>
          <p:nvPr/>
        </p:nvSpPr>
        <p:spPr>
          <a:xfrm>
            <a:off x="6812280" y="2240280"/>
            <a:ext cx="1965960" cy="777240"/>
          </a:xfrm>
          <a:prstGeom prst="rect">
            <a:avLst/>
          </a:prstGeom>
          <a:noFill/>
          <a:ln/>
        </p:spPr>
        <p:txBody>
          <a:bodyPr wrap="square" lIns="0" tIns="0" rIns="0" bIns="0" rtlCol="0" anchor="ctr"/>
          <a:lstStyle/>
          <a:p>
            <a:pPr marL="0" indent="0" algn="ctr">
              <a:buNone/>
            </a:pPr>
            <a:r>
              <a:rPr lang="en-US" sz="4000" b="1" dirty="0">
                <a:solidFill>
                  <a:srgbClr val="44790B"/>
                </a:solidFill>
                <a:latin typeface="Calibri" pitchFamily="34" charset="0"/>
                <a:ea typeface="Calibri" pitchFamily="34" charset="-122"/>
                <a:cs typeface="Calibri" pitchFamily="34" charset="-120"/>
              </a:rPr>
              <a:t>10</a:t>
            </a:r>
            <a:endParaRPr lang="en-US" sz="4000" dirty="0"/>
          </a:p>
        </p:txBody>
      </p:sp>
      <p:sp>
        <p:nvSpPr>
          <p:cNvPr id="23" name="Text 21"/>
          <p:cNvSpPr/>
          <p:nvPr/>
        </p:nvSpPr>
        <p:spPr>
          <a:xfrm>
            <a:off x="6903720" y="3063240"/>
            <a:ext cx="1783080" cy="36576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Developers</a:t>
            </a:r>
            <a:endParaRPr lang="en-US" sz="1300" dirty="0"/>
          </a:p>
        </p:txBody>
      </p:sp>
      <p:sp>
        <p:nvSpPr>
          <p:cNvPr id="24" name="Text 22"/>
          <p:cNvSpPr/>
          <p:nvPr/>
        </p:nvSpPr>
        <p:spPr>
          <a:xfrm>
            <a:off x="6903720" y="3429000"/>
            <a:ext cx="1783080" cy="73152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Inconsistent output across the team — no shared quality bar</a:t>
            </a:r>
            <a:endParaRPr lang="en-US" sz="1000" dirty="0"/>
          </a:p>
        </p:txBody>
      </p:sp>
      <p:sp>
        <p:nvSpPr>
          <p:cNvPr id="25" name="Text 23"/>
          <p:cNvSpPr/>
          <p:nvPr/>
        </p:nvSpPr>
        <p:spPr>
          <a:xfrm>
            <a:off x="365760" y="4434840"/>
            <a:ext cx="8412480" cy="320040"/>
          </a:xfrm>
          <a:prstGeom prst="rect">
            <a:avLst/>
          </a:prstGeom>
          <a:noFill/>
          <a:ln/>
        </p:spPr>
        <p:txBody>
          <a:bodyPr wrap="square" lIns="0" tIns="0" rIns="0" bIns="0" rtlCol="0" anchor="ctr"/>
          <a:lstStyle/>
          <a:p>
            <a:pPr marL="0" indent="0" algn="ctr">
              <a:buNone/>
            </a:pPr>
            <a:r>
              <a:rPr lang="en-US" sz="1200" b="1" i="1" dirty="0">
                <a:solidFill>
                  <a:srgbClr val="007886"/>
                </a:solidFill>
                <a:latin typeface="Calibri" pitchFamily="34" charset="0"/>
                <a:ea typeface="Calibri" pitchFamily="34" charset="-122"/>
                <a:cs typeface="Calibri" pitchFamily="34" charset="-120"/>
              </a:rPr>
              <a:t>The problem is execution quality, not product ideas. AI should free judgment — not replace it.</a:t>
            </a:r>
            <a:endParaRPr lang="en-US" sz="1200" dirty="0"/>
          </a:p>
        </p:txBody>
      </p:sp>
      <p:sp>
        <p:nvSpPr>
          <p:cNvPr id="26" name="Text 24"/>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27" name="Text 25"/>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THE CHOICE</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685800"/>
          </a:xfrm>
          <a:prstGeom prst="rect">
            <a:avLst/>
          </a:prstGeom>
          <a:noFill/>
          <a:ln/>
        </p:spPr>
        <p:txBody>
          <a:bodyPr wrap="square" lIns="0" tIns="0" rIns="0" bIns="0" rtlCol="0" anchor="ctr"/>
          <a:lstStyle/>
          <a:p>
            <a:pPr marL="0" indent="0">
              <a:buNone/>
            </a:pPr>
            <a:r>
              <a:rPr lang="en-US" sz="3200" b="1" dirty="0">
                <a:solidFill>
                  <a:srgbClr val="003F68"/>
                </a:solidFill>
                <a:latin typeface="Calibri" pitchFamily="34" charset="0"/>
                <a:ea typeface="Calibri" pitchFamily="34" charset="-122"/>
                <a:cs typeface="Calibri" pitchFamily="34" charset="-120"/>
              </a:rPr>
              <a:t>Spec-driven tools ship code. </a:t>
            </a:r>
            <a:r>
              <a:rPr lang="en-US" sz="3200" b="1" dirty="0">
                <a:solidFill>
                  <a:srgbClr val="E3780D"/>
                </a:solidFill>
                <a:latin typeface="Calibri" pitchFamily="34" charset="0"/>
                <a:ea typeface="Calibri" pitchFamily="34" charset="-122"/>
                <a:cs typeface="Calibri" pitchFamily="34" charset="-120"/>
              </a:rPr>
              <a:t>We ship a loop.</a:t>
            </a:r>
            <a:endParaRPr lang="en-US" sz="3200" dirty="0"/>
          </a:p>
        </p:txBody>
      </p:sp>
      <p:sp>
        <p:nvSpPr>
          <p:cNvPr id="5" name="Text 3"/>
          <p:cNvSpPr/>
          <p:nvPr/>
        </p:nvSpPr>
        <p:spPr>
          <a:xfrm>
            <a:off x="365760" y="1417320"/>
            <a:ext cx="8412480" cy="411480"/>
          </a:xfrm>
          <a:prstGeom prst="rect">
            <a:avLst/>
          </a:prstGeom>
          <a:noFill/>
          <a:ln/>
        </p:spPr>
        <p:txBody>
          <a:bodyPr wrap="square" lIns="0" tIns="0" rIns="0" bIns="0" rtlCol="0" anchor="ctr"/>
          <a:lstStyle/>
          <a:p>
            <a:pPr marL="0" indent="0">
              <a:buNone/>
            </a:pPr>
            <a:r>
              <a:rPr lang="en-US" sz="1200" dirty="0">
                <a:solidFill>
                  <a:srgbClr val="4D4E53"/>
                </a:solidFill>
                <a:latin typeface="Calibri" pitchFamily="34" charset="0"/>
                <a:ea typeface="Calibri" pitchFamily="34" charset="-122"/>
                <a:cs typeface="Calibri" pitchFamily="34" charset="-120"/>
              </a:rPr>
              <a:t>The alternative approach: write a spec, generate code, and stop. Our loop drills requirements, writes tests first, iterates until quality is proven — with a human approving every gate.</a:t>
            </a:r>
            <a:endParaRPr lang="en-US" sz="1200" dirty="0"/>
          </a:p>
        </p:txBody>
      </p:sp>
      <p:sp>
        <p:nvSpPr>
          <p:cNvPr id="6" name="Shape 4"/>
          <p:cNvSpPr/>
          <p:nvPr/>
        </p:nvSpPr>
        <p:spPr>
          <a:xfrm>
            <a:off x="365760" y="1965960"/>
            <a:ext cx="82296" cy="2468880"/>
          </a:xfrm>
          <a:prstGeom prst="rect">
            <a:avLst/>
          </a:prstGeom>
          <a:solidFill>
            <a:srgbClr val="CC4444"/>
          </a:solidFill>
          <a:ln w="12700">
            <a:solidFill>
              <a:srgbClr val="CC4444"/>
            </a:solidFill>
            <a:prstDash val="solid"/>
          </a:ln>
        </p:spPr>
      </p:sp>
      <p:sp>
        <p:nvSpPr>
          <p:cNvPr id="7" name="Shape 5"/>
          <p:cNvSpPr/>
          <p:nvPr/>
        </p:nvSpPr>
        <p:spPr>
          <a:xfrm>
            <a:off x="448056" y="1965960"/>
            <a:ext cx="3849624" cy="2468880"/>
          </a:xfrm>
          <a:prstGeom prst="rect">
            <a:avLst/>
          </a:prstGeom>
          <a:solidFill>
            <a:srgbClr val="FFFFFF"/>
          </a:solidFill>
          <a:ln w="9525">
            <a:solidFill>
              <a:srgbClr val="D9D8D7"/>
            </a:solidFill>
            <a:prstDash val="solid"/>
          </a:ln>
        </p:spPr>
      </p:sp>
      <p:sp>
        <p:nvSpPr>
          <p:cNvPr id="8" name="Text 6"/>
          <p:cNvSpPr/>
          <p:nvPr/>
        </p:nvSpPr>
        <p:spPr>
          <a:xfrm>
            <a:off x="594360" y="2057400"/>
            <a:ext cx="3657600" cy="274320"/>
          </a:xfrm>
          <a:prstGeom prst="rect">
            <a:avLst/>
          </a:prstGeom>
          <a:noFill/>
          <a:ln/>
        </p:spPr>
        <p:txBody>
          <a:bodyPr wrap="square" lIns="0" tIns="0" rIns="0" bIns="0" rtlCol="0" anchor="ctr"/>
          <a:lstStyle/>
          <a:p>
            <a:pPr marL="0" indent="0">
              <a:buNone/>
            </a:pPr>
            <a:r>
              <a:rPr lang="en-US" sz="1100" b="1" kern="0" spc="400" dirty="0">
                <a:solidFill>
                  <a:srgbClr val="CC4444"/>
                </a:solidFill>
                <a:latin typeface="Calibri" pitchFamily="34" charset="0"/>
                <a:ea typeface="Calibri" pitchFamily="34" charset="-122"/>
                <a:cs typeface="Calibri" pitchFamily="34" charset="-120"/>
              </a:rPr>
              <a:t>SPEC-DRIVEN APPROACH</a:t>
            </a:r>
            <a:endParaRPr lang="en-US" sz="1100" dirty="0"/>
          </a:p>
        </p:txBody>
      </p:sp>
      <p:sp>
        <p:nvSpPr>
          <p:cNvPr id="9" name="Text 7"/>
          <p:cNvSpPr/>
          <p:nvPr/>
        </p:nvSpPr>
        <p:spPr>
          <a:xfrm>
            <a:off x="594360" y="2331720"/>
            <a:ext cx="3657600" cy="27432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Linear. One-shot. Vendor-locked.</a:t>
            </a:r>
            <a:endParaRPr lang="en-US" sz="1400" dirty="0"/>
          </a:p>
        </p:txBody>
      </p:sp>
      <p:sp>
        <p:nvSpPr>
          <p:cNvPr id="10" name="Text 8"/>
          <p:cNvSpPr/>
          <p:nvPr/>
        </p:nvSpPr>
        <p:spPr>
          <a:xfrm>
            <a:off x="685800" y="2651760"/>
            <a:ext cx="3566160" cy="14173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Assumes the spec is perfect</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No built-in testing — trust, not proof</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Tied to one vendor's editor &amp; cloud</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Rewrite the spec if output is wrong</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Early-stage, still evolving product</a:t>
            </a:r>
            <a:endParaRPr lang="en-US" sz="1100" dirty="0"/>
          </a:p>
        </p:txBody>
      </p:sp>
      <p:sp>
        <p:nvSpPr>
          <p:cNvPr id="11" name="Text 9"/>
          <p:cNvSpPr/>
          <p:nvPr/>
        </p:nvSpPr>
        <p:spPr>
          <a:xfrm>
            <a:off x="594360" y="4114800"/>
            <a:ext cx="3657600" cy="274320"/>
          </a:xfrm>
          <a:prstGeom prst="rect">
            <a:avLst/>
          </a:prstGeom>
          <a:noFill/>
          <a:ln/>
        </p:spPr>
        <p:txBody>
          <a:bodyPr wrap="square" lIns="0" tIns="0" rIns="0" bIns="0" rtlCol="0" anchor="ctr"/>
          <a:lstStyle/>
          <a:p>
            <a:pPr marL="0" indent="0">
              <a:buNone/>
            </a:pPr>
            <a:r>
              <a:rPr lang="en-US" sz="1100" b="1" dirty="0">
                <a:solidFill>
                  <a:srgbClr val="CC4444"/>
                </a:solidFill>
                <a:latin typeface="Calibri" pitchFamily="34" charset="0"/>
                <a:ea typeface="Calibri" pitchFamily="34" charset="-122"/>
                <a:cs typeface="Calibri" pitchFamily="34" charset="-120"/>
              </a:rPr>
              <a:t>Misses 70% of the SDLC</a:t>
            </a:r>
            <a:endParaRPr lang="en-US" sz="1100" dirty="0"/>
          </a:p>
        </p:txBody>
      </p:sp>
      <p:sp>
        <p:nvSpPr>
          <p:cNvPr id="12" name="Shape 10"/>
          <p:cNvSpPr/>
          <p:nvPr/>
        </p:nvSpPr>
        <p:spPr>
          <a:xfrm>
            <a:off x="4846320" y="1965960"/>
            <a:ext cx="82296" cy="2468880"/>
          </a:xfrm>
          <a:prstGeom prst="rect">
            <a:avLst/>
          </a:prstGeom>
          <a:solidFill>
            <a:srgbClr val="007886"/>
          </a:solidFill>
          <a:ln w="12700">
            <a:solidFill>
              <a:srgbClr val="007886"/>
            </a:solidFill>
            <a:prstDash val="solid"/>
          </a:ln>
        </p:spPr>
      </p:sp>
      <p:sp>
        <p:nvSpPr>
          <p:cNvPr id="13" name="Shape 11"/>
          <p:cNvSpPr/>
          <p:nvPr/>
        </p:nvSpPr>
        <p:spPr>
          <a:xfrm>
            <a:off x="4928616" y="1965960"/>
            <a:ext cx="3849624" cy="2468880"/>
          </a:xfrm>
          <a:prstGeom prst="rect">
            <a:avLst/>
          </a:prstGeom>
          <a:solidFill>
            <a:srgbClr val="FFFFFF"/>
          </a:solidFill>
          <a:ln w="9525">
            <a:solidFill>
              <a:srgbClr val="D9D8D7"/>
            </a:solidFill>
            <a:prstDash val="solid"/>
          </a:ln>
        </p:spPr>
      </p:sp>
      <p:sp>
        <p:nvSpPr>
          <p:cNvPr id="14" name="Text 12"/>
          <p:cNvSpPr/>
          <p:nvPr/>
        </p:nvSpPr>
        <p:spPr>
          <a:xfrm>
            <a:off x="5074920" y="2057400"/>
            <a:ext cx="3657600" cy="274320"/>
          </a:xfrm>
          <a:prstGeom prst="rect">
            <a:avLst/>
          </a:prstGeom>
          <a:noFill/>
          <a:ln/>
        </p:spPr>
        <p:txBody>
          <a:bodyPr wrap="square" lIns="0" tIns="0" rIns="0" bIns="0" rtlCol="0" anchor="ctr"/>
          <a:lstStyle/>
          <a:p>
            <a:pPr marL="0" indent="0">
              <a:buNone/>
            </a:pPr>
            <a:r>
              <a:rPr lang="en-US" sz="1100" b="1" kern="0" spc="400" dirty="0">
                <a:solidFill>
                  <a:srgbClr val="007886"/>
                </a:solidFill>
                <a:latin typeface="Calibri" pitchFamily="34" charset="0"/>
                <a:ea typeface="Calibri" pitchFamily="34" charset="-122"/>
                <a:cs typeface="Calibri" pitchFamily="34" charset="-120"/>
              </a:rPr>
              <a:t>OUR AI-SDLC LOOP</a:t>
            </a:r>
            <a:endParaRPr lang="en-US" sz="1100" dirty="0"/>
          </a:p>
        </p:txBody>
      </p:sp>
      <p:sp>
        <p:nvSpPr>
          <p:cNvPr id="15" name="Text 13"/>
          <p:cNvSpPr/>
          <p:nvPr/>
        </p:nvSpPr>
        <p:spPr>
          <a:xfrm>
            <a:off x="5074920" y="2331720"/>
            <a:ext cx="3657600" cy="27432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Iterative. Tested. Human-approved.</a:t>
            </a:r>
            <a:endParaRPr lang="en-US" sz="1400" dirty="0"/>
          </a:p>
        </p:txBody>
      </p:sp>
      <p:sp>
        <p:nvSpPr>
          <p:cNvPr id="16" name="Text 14"/>
          <p:cNvSpPr/>
          <p:nvPr/>
        </p:nvSpPr>
        <p:spPr>
          <a:xfrm>
            <a:off x="5166360" y="2651760"/>
            <a:ext cx="3566160" cy="14173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AI drills requirements to surface gaps</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Tests are written BEFORE the code</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Works with Copilot, Claude, Cursor — any AI</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Loops until tests pass and QA is clean</a:t>
            </a:r>
            <a:endParaRPr lang="en-US" sz="1100" dirty="0"/>
          </a:p>
          <a:p>
            <a:pPr marL="342900" indent="-342900">
              <a:spcAft>
                <a:spcPts val="400"/>
              </a:spcAft>
              <a:buSzPct val="100000"/>
              <a:buChar char="●"/>
            </a:pPr>
            <a:r>
              <a:rPr lang="en-US" sz="1100" dirty="0">
                <a:solidFill>
                  <a:srgbClr val="4D4E53"/>
                </a:solidFill>
                <a:latin typeface="Calibri" pitchFamily="34" charset="0"/>
                <a:ea typeface="Calibri" pitchFamily="34" charset="-122"/>
                <a:cs typeface="Calibri" pitchFamily="34" charset="-120"/>
              </a:rPr>
              <a:t>4 hard human gates — no accidental ship</a:t>
            </a:r>
            <a:endParaRPr lang="en-US" sz="1100" dirty="0"/>
          </a:p>
        </p:txBody>
      </p:sp>
      <p:sp>
        <p:nvSpPr>
          <p:cNvPr id="17" name="Text 15"/>
          <p:cNvSpPr/>
          <p:nvPr/>
        </p:nvSpPr>
        <p:spPr>
          <a:xfrm>
            <a:off x="5074920" y="4114800"/>
            <a:ext cx="3657600" cy="27432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Covers the full lifecycle</a:t>
            </a:r>
            <a:endParaRPr lang="en-US" sz="1100" dirty="0"/>
          </a:p>
        </p:txBody>
      </p:sp>
      <p:sp>
        <p:nvSpPr>
          <p:cNvPr id="18" name="Text 16"/>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19" name="Text 17"/>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84A"/>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SECTION 01 — THE LOOP</a:t>
            </a:r>
            <a:endParaRPr lang="en-US" sz="1000" dirty="0"/>
          </a:p>
        </p:txBody>
      </p:sp>
      <p:sp>
        <p:nvSpPr>
          <p:cNvPr id="3" name="Text 1"/>
          <p:cNvSpPr/>
          <p:nvPr/>
        </p:nvSpPr>
        <p:spPr>
          <a:xfrm>
            <a:off x="502920" y="310292"/>
            <a:ext cx="822960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the loop works —</a:t>
            </a:r>
            <a:r>
              <a:rPr lang="en-US" sz="3000" dirty="0"/>
              <a:t> </a:t>
            </a:r>
            <a:r>
              <a:rPr lang="en-US" sz="3000" b="1" dirty="0">
                <a:solidFill>
                  <a:srgbClr val="FFFFFF"/>
                </a:solidFill>
                <a:latin typeface="Calibri" pitchFamily="34" charset="0"/>
                <a:ea typeface="Calibri" pitchFamily="34" charset="-122"/>
                <a:cs typeface="Calibri" pitchFamily="34" charset="-120"/>
              </a:rPr>
              <a:t>six steps, one rhythm.</a:t>
            </a:r>
            <a:endParaRPr lang="en-US" sz="3000" dirty="0"/>
          </a:p>
        </p:txBody>
      </p:sp>
      <p:sp>
        <p:nvSpPr>
          <p:cNvPr id="4" name="Shape 2"/>
          <p:cNvSpPr/>
          <p:nvPr/>
        </p:nvSpPr>
        <p:spPr>
          <a:xfrm>
            <a:off x="2194560" y="1737360"/>
            <a:ext cx="4754880" cy="2743200"/>
          </a:xfrm>
          <a:prstGeom prst="ellipse">
            <a:avLst/>
          </a:prstGeom>
          <a:ln w="19050">
            <a:solidFill>
              <a:srgbClr val="007886"/>
            </a:solidFill>
            <a:prstDash val="dash"/>
          </a:ln>
        </p:spPr>
      </p:sp>
      <p:sp>
        <p:nvSpPr>
          <p:cNvPr id="5" name="Text 3"/>
          <p:cNvSpPr/>
          <p:nvPr/>
        </p:nvSpPr>
        <p:spPr>
          <a:xfrm>
            <a:off x="3200400" y="2606040"/>
            <a:ext cx="2743200" cy="1005840"/>
          </a:xfrm>
          <a:prstGeom prst="rect">
            <a:avLst/>
          </a:prstGeom>
          <a:noFill/>
          <a:ln/>
        </p:spPr>
        <p:txBody>
          <a:bodyPr wrap="square" lIns="0" tIns="0" rIns="0" bIns="0" rtlCol="0" anchor="ctr"/>
          <a:lstStyle/>
          <a:p>
            <a:pPr marL="0" indent="0" algn="ctr">
              <a:buNone/>
            </a:pPr>
            <a:r>
              <a:rPr lang="en-US" sz="1400" b="1" kern="0" spc="400" dirty="0">
                <a:solidFill>
                  <a:srgbClr val="FFFFFF"/>
                </a:solidFill>
                <a:latin typeface="Calibri" pitchFamily="34" charset="0"/>
                <a:ea typeface="Calibri" pitchFamily="34" charset="-122"/>
                <a:cs typeface="Calibri" pitchFamily="34" charset="-120"/>
              </a:rPr>
              <a:t>CONTINUOUS
</a:t>
            </a:r>
            <a:r>
              <a:rPr lang="en-US" sz="2000" b="1" kern="0" spc="400" dirty="0">
                <a:solidFill>
                  <a:srgbClr val="007886"/>
                </a:solidFill>
                <a:latin typeface="Calibri" pitchFamily="34" charset="0"/>
                <a:ea typeface="Calibri" pitchFamily="34" charset="-122"/>
                <a:cs typeface="Calibri" pitchFamily="34" charset="-120"/>
              </a:rPr>
              <a:t>LOOP
</a:t>
            </a:r>
            <a:r>
              <a:rPr lang="en-US" sz="1100" i="1" dirty="0">
                <a:solidFill>
                  <a:srgbClr val="D9D8D7"/>
                </a:solidFill>
                <a:latin typeface="Calibri" pitchFamily="34" charset="0"/>
                <a:ea typeface="Calibri" pitchFamily="34" charset="-122"/>
                <a:cs typeface="Calibri" pitchFamily="34" charset="-120"/>
              </a:rPr>
              <a:t>AI works • Humans approve</a:t>
            </a:r>
            <a:endParaRPr lang="en-US" sz="1400" dirty="0"/>
          </a:p>
        </p:txBody>
      </p:sp>
      <p:sp>
        <p:nvSpPr>
          <p:cNvPr id="6" name="Shape 4"/>
          <p:cNvSpPr/>
          <p:nvPr/>
        </p:nvSpPr>
        <p:spPr>
          <a:xfrm>
            <a:off x="3949700" y="1511300"/>
            <a:ext cx="1234440" cy="457200"/>
          </a:xfrm>
          <a:prstGeom prst="roundRect">
            <a:avLst>
              <a:gd name="adj" fmla="val 16000"/>
            </a:avLst>
          </a:prstGeom>
          <a:solidFill>
            <a:srgbClr val="007886"/>
          </a:solidFill>
          <a:ln w="12700">
            <a:solidFill>
              <a:srgbClr val="007886"/>
            </a:solidFill>
            <a:prstDash val="solid"/>
          </a:ln>
          <a:effectLst>
            <a:outerShdw blurRad="76200" dist="25400" dir="8100000" algn="bl" rotWithShape="0">
              <a:srgbClr val="000000">
                <a:alpha val="10000"/>
              </a:srgbClr>
            </a:outerShdw>
          </a:effectLst>
        </p:spPr>
      </p:sp>
      <p:sp>
        <p:nvSpPr>
          <p:cNvPr id="7" name="Text 5"/>
          <p:cNvSpPr/>
          <p:nvPr/>
        </p:nvSpPr>
        <p:spPr>
          <a:xfrm>
            <a:off x="3949700" y="15113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1. REQS &amp; PRD</a:t>
            </a:r>
            <a:endParaRPr lang="en-US" sz="1000" dirty="0"/>
          </a:p>
        </p:txBody>
      </p:sp>
      <p:sp>
        <p:nvSpPr>
          <p:cNvPr id="10" name="Shape 8"/>
          <p:cNvSpPr/>
          <p:nvPr/>
        </p:nvSpPr>
        <p:spPr>
          <a:xfrm>
            <a:off x="6007100" y="2197100"/>
            <a:ext cx="1234440" cy="457200"/>
          </a:xfrm>
          <a:prstGeom prst="roundRect">
            <a:avLst>
              <a:gd name="adj" fmla="val 16000"/>
            </a:avLst>
          </a:prstGeom>
          <a:solidFill>
            <a:srgbClr val="44790B"/>
          </a:solidFill>
          <a:ln w="12700">
            <a:solidFill>
              <a:srgbClr val="44790B"/>
            </a:solidFill>
            <a:prstDash val="solid"/>
          </a:ln>
          <a:effectLst>
            <a:outerShdw blurRad="76200" dist="25400" dir="8100000" algn="bl" rotWithShape="0">
              <a:srgbClr val="000000">
                <a:alpha val="10000"/>
              </a:srgbClr>
            </a:outerShdw>
          </a:effectLst>
        </p:spPr>
      </p:sp>
      <p:sp>
        <p:nvSpPr>
          <p:cNvPr id="11" name="Text 9"/>
          <p:cNvSpPr/>
          <p:nvPr/>
        </p:nvSpPr>
        <p:spPr>
          <a:xfrm>
            <a:off x="6007100" y="21971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2. PLAN &amp; DECOMP</a:t>
            </a:r>
            <a:endParaRPr lang="en-US" sz="1000" dirty="0"/>
          </a:p>
        </p:txBody>
      </p:sp>
      <p:sp>
        <p:nvSpPr>
          <p:cNvPr id="12" name="Shape 10"/>
          <p:cNvSpPr/>
          <p:nvPr/>
        </p:nvSpPr>
        <p:spPr>
          <a:xfrm>
            <a:off x="6007100" y="3568700"/>
            <a:ext cx="1234440" cy="457200"/>
          </a:xfrm>
          <a:prstGeom prst="roundRect">
            <a:avLst>
              <a:gd name="adj" fmla="val 16000"/>
            </a:avLst>
          </a:prstGeom>
          <a:solidFill>
            <a:srgbClr val="E3780D"/>
          </a:solidFill>
          <a:ln w="12700">
            <a:solidFill>
              <a:srgbClr val="E3780D"/>
            </a:solidFill>
            <a:prstDash val="solid"/>
          </a:ln>
          <a:effectLst>
            <a:outerShdw blurRad="76200" dist="25400" dir="8100000" algn="bl" rotWithShape="0">
              <a:srgbClr val="000000">
                <a:alpha val="10000"/>
              </a:srgbClr>
            </a:outerShdw>
          </a:effectLst>
        </p:spPr>
      </p:sp>
      <p:sp>
        <p:nvSpPr>
          <p:cNvPr id="13" name="Text 11"/>
          <p:cNvSpPr/>
          <p:nvPr/>
        </p:nvSpPr>
        <p:spPr>
          <a:xfrm>
            <a:off x="6007100" y="35687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3. TESTS FIRST</a:t>
            </a:r>
            <a:endParaRPr lang="en-US" sz="1000" dirty="0"/>
          </a:p>
        </p:txBody>
      </p:sp>
      <p:sp>
        <p:nvSpPr>
          <p:cNvPr id="14" name="Shape 12"/>
          <p:cNvSpPr/>
          <p:nvPr/>
        </p:nvSpPr>
        <p:spPr>
          <a:xfrm>
            <a:off x="3949700" y="4254500"/>
            <a:ext cx="1234440" cy="457200"/>
          </a:xfrm>
          <a:prstGeom prst="roundRect">
            <a:avLst>
              <a:gd name="adj" fmla="val 16000"/>
            </a:avLst>
          </a:prstGeom>
          <a:solidFill>
            <a:srgbClr val="462C67"/>
          </a:solidFill>
          <a:ln w="12700">
            <a:solidFill>
              <a:srgbClr val="462C67"/>
            </a:solidFill>
            <a:prstDash val="solid"/>
          </a:ln>
          <a:effectLst>
            <a:outerShdw blurRad="76200" dist="25400" dir="8100000" algn="bl" rotWithShape="0">
              <a:srgbClr val="000000">
                <a:alpha val="10000"/>
              </a:srgbClr>
            </a:outerShdw>
          </a:effectLst>
        </p:spPr>
      </p:sp>
      <p:sp>
        <p:nvSpPr>
          <p:cNvPr id="15" name="Text 13"/>
          <p:cNvSpPr/>
          <p:nvPr/>
        </p:nvSpPr>
        <p:spPr>
          <a:xfrm>
            <a:off x="3949700" y="42545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4. AI BUILDS</a:t>
            </a:r>
            <a:endParaRPr lang="en-US" sz="1000" dirty="0"/>
          </a:p>
        </p:txBody>
      </p:sp>
      <p:sp>
        <p:nvSpPr>
          <p:cNvPr id="16" name="Shape 14"/>
          <p:cNvSpPr/>
          <p:nvPr/>
        </p:nvSpPr>
        <p:spPr>
          <a:xfrm>
            <a:off x="1892300" y="3568700"/>
            <a:ext cx="1234440" cy="457200"/>
          </a:xfrm>
          <a:prstGeom prst="roundRect">
            <a:avLst>
              <a:gd name="adj" fmla="val 16000"/>
            </a:avLst>
          </a:prstGeom>
          <a:solidFill>
            <a:srgbClr val="972364"/>
          </a:solidFill>
          <a:ln w="12700">
            <a:solidFill>
              <a:srgbClr val="972364"/>
            </a:solidFill>
            <a:prstDash val="solid"/>
          </a:ln>
          <a:effectLst>
            <a:outerShdw blurRad="76200" dist="25400" dir="8100000" algn="bl" rotWithShape="0">
              <a:srgbClr val="000000">
                <a:alpha val="10000"/>
              </a:srgbClr>
            </a:outerShdw>
          </a:effectLst>
        </p:spPr>
      </p:sp>
      <p:sp>
        <p:nvSpPr>
          <p:cNvPr id="17" name="Text 15"/>
          <p:cNvSpPr/>
          <p:nvPr/>
        </p:nvSpPr>
        <p:spPr>
          <a:xfrm>
            <a:off x="1892300" y="35687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5. QA</a:t>
            </a:r>
            <a:endParaRPr lang="en-US" sz="1000" dirty="0"/>
          </a:p>
        </p:txBody>
      </p:sp>
      <p:sp>
        <p:nvSpPr>
          <p:cNvPr id="18" name="Shape 16"/>
          <p:cNvSpPr/>
          <p:nvPr/>
        </p:nvSpPr>
        <p:spPr>
          <a:xfrm>
            <a:off x="1892300" y="2197100"/>
            <a:ext cx="1234440" cy="457200"/>
          </a:xfrm>
          <a:prstGeom prst="roundRect">
            <a:avLst>
              <a:gd name="adj" fmla="val 16000"/>
            </a:avLst>
          </a:prstGeom>
          <a:solidFill>
            <a:srgbClr val="CC4444"/>
          </a:solidFill>
          <a:ln w="12700">
            <a:solidFill>
              <a:srgbClr val="CC4444"/>
            </a:solidFill>
            <a:prstDash val="solid"/>
          </a:ln>
          <a:effectLst>
            <a:outerShdw blurRad="76200" dist="25400" dir="8100000" algn="bl" rotWithShape="0">
              <a:srgbClr val="000000">
                <a:alpha val="10000"/>
              </a:srgbClr>
            </a:outerShdw>
          </a:effectLst>
        </p:spPr>
      </p:sp>
      <p:sp>
        <p:nvSpPr>
          <p:cNvPr id="19" name="Text 17"/>
          <p:cNvSpPr/>
          <p:nvPr/>
        </p:nvSpPr>
        <p:spPr>
          <a:xfrm>
            <a:off x="1892300" y="2197100"/>
            <a:ext cx="123444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6. LOOP TO GREEN</a:t>
            </a:r>
            <a:endParaRPr lang="en-US" sz="1000" dirty="0"/>
          </a:p>
        </p:txBody>
      </p:sp>
      <p:sp>
        <p:nvSpPr>
          <p:cNvPr id="22" name="Text 20"/>
          <p:cNvSpPr/>
          <p:nvPr/>
        </p:nvSpPr>
        <p:spPr>
          <a:xfrm>
            <a:off x="473251" y="4716294"/>
            <a:ext cx="8229600" cy="274320"/>
          </a:xfrm>
          <a:prstGeom prst="rect">
            <a:avLst/>
          </a:prstGeom>
          <a:noFill/>
          <a:ln/>
        </p:spPr>
        <p:txBody>
          <a:bodyPr wrap="square" lIns="0" tIns="0" rIns="0" bIns="0" rtlCol="0" anchor="ctr"/>
          <a:lstStyle/>
          <a:p>
            <a:pPr marL="0" indent="0" algn="ctr">
              <a:buNone/>
            </a:pPr>
            <a:r>
              <a:rPr lang="en-US" sz="1100" i="1" dirty="0">
                <a:solidFill>
                  <a:srgbClr val="D9D8D7"/>
                </a:solidFill>
                <a:latin typeface="Calibri" pitchFamily="34" charset="0"/>
                <a:ea typeface="Calibri" pitchFamily="34" charset="-122"/>
                <a:cs typeface="Calibri" pitchFamily="34" charset="-120"/>
              </a:rPr>
              <a:t>The loop repeats until tests pass and QA is clean. No step is skipped — every change earns its green.</a:t>
            </a:r>
            <a:endParaRPr lang="en-US" sz="1100" dirty="0"/>
          </a:p>
        </p:txBody>
      </p:sp>
      <p:sp>
        <p:nvSpPr>
          <p:cNvPr id="23" name="Text 21"/>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D9D8D7"/>
                </a:solidFill>
                <a:latin typeface="Calibri" pitchFamily="34" charset="0"/>
                <a:ea typeface="Calibri" pitchFamily="34" charset="-122"/>
                <a:cs typeface="Calibri" pitchFamily="34" charset="-120"/>
              </a:rPr>
              <a:t>04</a:t>
            </a:r>
            <a:endParaRPr lang="en-US" sz="900" dirty="0"/>
          </a:p>
        </p:txBody>
      </p:sp>
    </p:spTree>
    <p:extLst>
      <p:ext uri="{BB962C8B-B14F-4D97-AF65-F5344CB8AC3E}">
        <p14:creationId xmlns:p14="http://schemas.microsoft.com/office/powerpoint/2010/main" val="3130244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84A"/>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CONTROL POINTS</a:t>
            </a:r>
            <a:endParaRPr lang="en-US" sz="1000" dirty="0"/>
          </a:p>
        </p:txBody>
      </p:sp>
      <p:sp>
        <p:nvSpPr>
          <p:cNvPr id="3" name="Text 1"/>
          <p:cNvSpPr/>
          <p:nvPr/>
        </p:nvSpPr>
        <p:spPr>
          <a:xfrm>
            <a:off x="457200" y="640080"/>
            <a:ext cx="822960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Four human gates. </a:t>
            </a:r>
            <a:r>
              <a:rPr lang="en-US" sz="3000" b="1" dirty="0">
                <a:solidFill>
                  <a:srgbClr val="007886"/>
                </a:solidFill>
                <a:latin typeface="Calibri" pitchFamily="34" charset="0"/>
                <a:ea typeface="Calibri" pitchFamily="34" charset="-122"/>
                <a:cs typeface="Calibri" pitchFamily="34" charset="-120"/>
              </a:rPr>
              <a:t>Nothing ships without us.</a:t>
            </a:r>
            <a:endParaRPr lang="en-US" sz="3000" dirty="0"/>
          </a:p>
        </p:txBody>
      </p:sp>
      <p:sp>
        <p:nvSpPr>
          <p:cNvPr id="4" name="Shape 2"/>
          <p:cNvSpPr/>
          <p:nvPr/>
        </p:nvSpPr>
        <p:spPr>
          <a:xfrm>
            <a:off x="457200" y="1417320"/>
            <a:ext cx="502920" cy="502920"/>
          </a:xfrm>
          <a:prstGeom prst="ellipse">
            <a:avLst/>
          </a:prstGeom>
          <a:solidFill>
            <a:srgbClr val="007886"/>
          </a:solidFill>
          <a:ln w="12700">
            <a:solidFill>
              <a:srgbClr val="007886"/>
            </a:solidFill>
            <a:prstDash val="solid"/>
          </a:ln>
        </p:spPr>
      </p:sp>
      <p:sp>
        <p:nvSpPr>
          <p:cNvPr id="5" name="Text 3"/>
          <p:cNvSpPr/>
          <p:nvPr/>
        </p:nvSpPr>
        <p:spPr>
          <a:xfrm>
            <a:off x="457200" y="14173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1143000" y="1399032"/>
            <a:ext cx="73152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PRD Approval</a:t>
            </a:r>
            <a:endParaRPr lang="en-US" sz="1600" dirty="0"/>
          </a:p>
        </p:txBody>
      </p:sp>
      <p:sp>
        <p:nvSpPr>
          <p:cNvPr id="7" name="Text 5"/>
          <p:cNvSpPr/>
          <p:nvPr/>
        </p:nvSpPr>
        <p:spPr>
          <a:xfrm>
            <a:off x="1143000" y="1709928"/>
            <a:ext cx="7315200" cy="365760"/>
          </a:xfrm>
          <a:prstGeom prst="rect">
            <a:avLst/>
          </a:prstGeom>
          <a:noFill/>
          <a:ln/>
        </p:spPr>
        <p:txBody>
          <a:bodyPr wrap="square" lIns="0" tIns="0" rIns="0" bIns="0" rtlCol="0" anchor="ctr"/>
          <a:lstStyle/>
          <a:p>
            <a:pPr marL="0" indent="0">
              <a:buNone/>
            </a:pPr>
            <a:r>
              <a:rPr lang="en-US" sz="1200" dirty="0">
                <a:solidFill>
                  <a:srgbClr val="D9D8D7"/>
                </a:solidFill>
                <a:latin typeface="Calibri" pitchFamily="34" charset="0"/>
                <a:ea typeface="Calibri" pitchFamily="34" charset="-122"/>
                <a:cs typeface="Calibri" pitchFamily="34" charset="-120"/>
              </a:rPr>
              <a:t>Before any code is written. Humans confirm the AI understood what to build.</a:t>
            </a:r>
            <a:endParaRPr lang="en-US" sz="1200" dirty="0"/>
          </a:p>
        </p:txBody>
      </p:sp>
      <p:sp>
        <p:nvSpPr>
          <p:cNvPr id="8" name="Shape 6"/>
          <p:cNvSpPr/>
          <p:nvPr/>
        </p:nvSpPr>
        <p:spPr>
          <a:xfrm>
            <a:off x="457200" y="2194560"/>
            <a:ext cx="502920" cy="502920"/>
          </a:xfrm>
          <a:prstGeom prst="ellipse">
            <a:avLst/>
          </a:prstGeom>
          <a:solidFill>
            <a:srgbClr val="E3780D"/>
          </a:solidFill>
          <a:ln w="12700">
            <a:solidFill>
              <a:srgbClr val="E3780D"/>
            </a:solidFill>
            <a:prstDash val="solid"/>
          </a:ln>
        </p:spPr>
      </p:sp>
      <p:sp>
        <p:nvSpPr>
          <p:cNvPr id="9" name="Text 7"/>
          <p:cNvSpPr/>
          <p:nvPr/>
        </p:nvSpPr>
        <p:spPr>
          <a:xfrm>
            <a:off x="457200" y="219456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p:nvPr/>
        </p:nvSpPr>
        <p:spPr>
          <a:xfrm>
            <a:off x="1143000" y="2176272"/>
            <a:ext cx="73152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Plan Approval</a:t>
            </a:r>
            <a:endParaRPr lang="en-US" sz="1600" dirty="0"/>
          </a:p>
        </p:txBody>
      </p:sp>
      <p:sp>
        <p:nvSpPr>
          <p:cNvPr id="11" name="Text 9"/>
          <p:cNvSpPr/>
          <p:nvPr/>
        </p:nvSpPr>
        <p:spPr>
          <a:xfrm>
            <a:off x="1143000" y="2487168"/>
            <a:ext cx="7315200" cy="365760"/>
          </a:xfrm>
          <a:prstGeom prst="rect">
            <a:avLst/>
          </a:prstGeom>
          <a:noFill/>
          <a:ln/>
        </p:spPr>
        <p:txBody>
          <a:bodyPr wrap="square" lIns="0" tIns="0" rIns="0" bIns="0" rtlCol="0" anchor="ctr"/>
          <a:lstStyle/>
          <a:p>
            <a:pPr marL="0" indent="0">
              <a:buNone/>
            </a:pPr>
            <a:r>
              <a:rPr lang="en-US" sz="1200" dirty="0">
                <a:solidFill>
                  <a:srgbClr val="D9D8D7"/>
                </a:solidFill>
                <a:latin typeface="Calibri" pitchFamily="34" charset="0"/>
                <a:ea typeface="Calibri" pitchFamily="34" charset="-122"/>
                <a:cs typeface="Calibri" pitchFamily="34" charset="-120"/>
              </a:rPr>
              <a:t>Humans validate how it will be built — architecture, scope, sequence.</a:t>
            </a:r>
            <a:endParaRPr lang="en-US" sz="1200" dirty="0"/>
          </a:p>
        </p:txBody>
      </p:sp>
      <p:sp>
        <p:nvSpPr>
          <p:cNvPr id="12" name="Shape 10"/>
          <p:cNvSpPr/>
          <p:nvPr/>
        </p:nvSpPr>
        <p:spPr>
          <a:xfrm>
            <a:off x="457200" y="2971800"/>
            <a:ext cx="502920" cy="502920"/>
          </a:xfrm>
          <a:prstGeom prst="ellipse">
            <a:avLst/>
          </a:prstGeom>
          <a:solidFill>
            <a:srgbClr val="462C67"/>
          </a:solidFill>
          <a:ln w="12700">
            <a:solidFill>
              <a:srgbClr val="462C67"/>
            </a:solidFill>
            <a:prstDash val="solid"/>
          </a:ln>
        </p:spPr>
      </p:sp>
      <p:sp>
        <p:nvSpPr>
          <p:cNvPr id="13" name="Text 11"/>
          <p:cNvSpPr/>
          <p:nvPr/>
        </p:nvSpPr>
        <p:spPr>
          <a:xfrm>
            <a:off x="457200" y="297180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p:nvPr/>
        </p:nvSpPr>
        <p:spPr>
          <a:xfrm>
            <a:off x="1143000" y="2953512"/>
            <a:ext cx="73152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Issue Breakdown Approval</a:t>
            </a:r>
            <a:endParaRPr lang="en-US" sz="1600" dirty="0"/>
          </a:p>
        </p:txBody>
      </p:sp>
      <p:sp>
        <p:nvSpPr>
          <p:cNvPr id="15" name="Text 13"/>
          <p:cNvSpPr/>
          <p:nvPr/>
        </p:nvSpPr>
        <p:spPr>
          <a:xfrm>
            <a:off x="1143000" y="3264408"/>
            <a:ext cx="7315200" cy="365760"/>
          </a:xfrm>
          <a:prstGeom prst="rect">
            <a:avLst/>
          </a:prstGeom>
          <a:noFill/>
          <a:ln/>
        </p:spPr>
        <p:txBody>
          <a:bodyPr wrap="square" lIns="0" tIns="0" rIns="0" bIns="0" rtlCol="0" anchor="ctr"/>
          <a:lstStyle/>
          <a:p>
            <a:pPr marL="0" indent="0">
              <a:buNone/>
            </a:pPr>
            <a:r>
              <a:rPr lang="en-US" sz="1200" dirty="0">
                <a:solidFill>
                  <a:srgbClr val="D9D8D7"/>
                </a:solidFill>
                <a:latin typeface="Calibri" pitchFamily="34" charset="0"/>
                <a:ea typeface="Calibri" pitchFamily="34" charset="-122"/>
                <a:cs typeface="Calibri" pitchFamily="34" charset="-120"/>
              </a:rPr>
              <a:t>Humans review the task list and flag which ones are hands-on vs. hands-off.</a:t>
            </a:r>
            <a:endParaRPr lang="en-US" sz="1200" dirty="0"/>
          </a:p>
        </p:txBody>
      </p:sp>
      <p:sp>
        <p:nvSpPr>
          <p:cNvPr id="16" name="Shape 14"/>
          <p:cNvSpPr/>
          <p:nvPr/>
        </p:nvSpPr>
        <p:spPr>
          <a:xfrm>
            <a:off x="457200" y="3749040"/>
            <a:ext cx="502920" cy="502920"/>
          </a:xfrm>
          <a:prstGeom prst="ellipse">
            <a:avLst/>
          </a:prstGeom>
          <a:solidFill>
            <a:srgbClr val="44790B"/>
          </a:solidFill>
          <a:ln w="12700">
            <a:solidFill>
              <a:srgbClr val="44790B"/>
            </a:solidFill>
            <a:prstDash val="solid"/>
          </a:ln>
        </p:spPr>
      </p:sp>
      <p:sp>
        <p:nvSpPr>
          <p:cNvPr id="17" name="Text 15"/>
          <p:cNvSpPr/>
          <p:nvPr/>
        </p:nvSpPr>
        <p:spPr>
          <a:xfrm>
            <a:off x="457200" y="374904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1143000" y="3730752"/>
            <a:ext cx="73152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Pull Request Merge</a:t>
            </a:r>
            <a:endParaRPr lang="en-US" sz="1600" dirty="0"/>
          </a:p>
        </p:txBody>
      </p:sp>
      <p:sp>
        <p:nvSpPr>
          <p:cNvPr id="19" name="Text 17"/>
          <p:cNvSpPr/>
          <p:nvPr/>
        </p:nvSpPr>
        <p:spPr>
          <a:xfrm>
            <a:off x="1143000" y="4041648"/>
            <a:ext cx="7315200" cy="365760"/>
          </a:xfrm>
          <a:prstGeom prst="rect">
            <a:avLst/>
          </a:prstGeom>
          <a:noFill/>
          <a:ln/>
        </p:spPr>
        <p:txBody>
          <a:bodyPr wrap="square" lIns="0" tIns="0" rIns="0" bIns="0" rtlCol="0" anchor="ctr"/>
          <a:lstStyle/>
          <a:p>
            <a:pPr marL="0" indent="0">
              <a:buNone/>
            </a:pPr>
            <a:r>
              <a:rPr lang="en-US" sz="1200" dirty="0">
                <a:solidFill>
                  <a:srgbClr val="D9D8D7"/>
                </a:solidFill>
                <a:latin typeface="Calibri" pitchFamily="34" charset="0"/>
                <a:ea typeface="Calibri" pitchFamily="34" charset="-122"/>
                <a:cs typeface="Calibri" pitchFamily="34" charset="-120"/>
              </a:rPr>
              <a:t>Final gate. AI proposes the change — a human approves and merges it.</a:t>
            </a:r>
            <a:endParaRPr lang="en-US" sz="1200" dirty="0"/>
          </a:p>
        </p:txBody>
      </p:sp>
      <p:sp>
        <p:nvSpPr>
          <p:cNvPr id="20" name="Text 18"/>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D9D8D7"/>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TWO OPERATING MODES</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640080"/>
          </a:xfrm>
          <a:prstGeom prst="rect">
            <a:avLst/>
          </a:prstGeom>
          <a:noFill/>
          <a:ln/>
        </p:spPr>
        <p:txBody>
          <a:bodyPr wrap="square" lIns="0" tIns="0" rIns="0" bIns="0" rtlCol="0" anchor="ctr"/>
          <a:lstStyle/>
          <a:p>
            <a:pPr marL="0" indent="0">
              <a:buNone/>
            </a:pPr>
            <a:r>
              <a:rPr lang="en-US" sz="3000" b="1" dirty="0">
                <a:solidFill>
                  <a:srgbClr val="003F68"/>
                </a:solidFill>
                <a:latin typeface="Calibri" pitchFamily="34" charset="0"/>
                <a:ea typeface="Calibri" pitchFamily="34" charset="-122"/>
                <a:cs typeface="Calibri" pitchFamily="34" charset="-120"/>
              </a:rPr>
              <a:t>Hands-on when it matters. </a:t>
            </a:r>
            <a:r>
              <a:rPr lang="en-US" sz="3000" b="1" dirty="0">
                <a:solidFill>
                  <a:srgbClr val="007886"/>
                </a:solidFill>
                <a:latin typeface="Calibri" pitchFamily="34" charset="0"/>
                <a:ea typeface="Calibri" pitchFamily="34" charset="-122"/>
                <a:cs typeface="Calibri" pitchFamily="34" charset="-120"/>
              </a:rPr>
              <a:t>Hands-off when it doesn't.</a:t>
            </a:r>
            <a:endParaRPr lang="en-US" sz="3000" dirty="0"/>
          </a:p>
        </p:txBody>
      </p:sp>
      <p:sp>
        <p:nvSpPr>
          <p:cNvPr id="5" name="Text 3"/>
          <p:cNvSpPr/>
          <p:nvPr/>
        </p:nvSpPr>
        <p:spPr>
          <a:xfrm>
            <a:off x="320040" y="1453896"/>
            <a:ext cx="8412480" cy="457200"/>
          </a:xfrm>
          <a:prstGeom prst="rect">
            <a:avLst/>
          </a:prstGeom>
          <a:noFill/>
          <a:ln/>
        </p:spPr>
        <p:txBody>
          <a:bodyPr wrap="square" lIns="0" tIns="0" rIns="0" bIns="0" rtlCol="0" anchor="ctr"/>
          <a:lstStyle/>
          <a:p>
            <a:pPr marL="0" indent="0">
              <a:buNone/>
            </a:pPr>
            <a:r>
              <a:rPr lang="en-US" sz="1200" dirty="0">
                <a:solidFill>
                  <a:srgbClr val="4D4E53"/>
                </a:solidFill>
                <a:latin typeface="Calibri" pitchFamily="34" charset="0"/>
                <a:ea typeface="Calibri" pitchFamily="34" charset="-122"/>
                <a:cs typeface="Calibri" pitchFamily="34" charset="-120"/>
              </a:rPr>
              <a:t>Every task is tagged. High-stakes work runs with a human in the loop. Well-defined work runs autonomously while developers focus elsewhere.</a:t>
            </a:r>
            <a:endParaRPr lang="en-US" sz="1200" dirty="0"/>
          </a:p>
        </p:txBody>
      </p:sp>
      <p:sp>
        <p:nvSpPr>
          <p:cNvPr id="6" name="Text 4"/>
          <p:cNvSpPr/>
          <p:nvPr/>
        </p:nvSpPr>
        <p:spPr>
          <a:xfrm>
            <a:off x="365760" y="1965960"/>
            <a:ext cx="3931920" cy="228600"/>
          </a:xfrm>
          <a:prstGeom prst="rect">
            <a:avLst/>
          </a:prstGeom>
          <a:noFill/>
          <a:ln/>
        </p:spPr>
        <p:txBody>
          <a:bodyPr wrap="square" lIns="0" tIns="0" rIns="0" bIns="0" rtlCol="0" anchor="ctr"/>
          <a:lstStyle/>
          <a:p>
            <a:pPr marL="0" indent="0">
              <a:buNone/>
            </a:pPr>
            <a:r>
              <a:rPr lang="en-US" sz="1100" b="1" kern="0" spc="400" dirty="0">
                <a:solidFill>
                  <a:srgbClr val="007886"/>
                </a:solidFill>
                <a:latin typeface="Calibri" pitchFamily="34" charset="0"/>
                <a:ea typeface="Calibri" pitchFamily="34" charset="-122"/>
                <a:cs typeface="Calibri" pitchFamily="34" charset="-120"/>
              </a:rPr>
              <a:t>HITL — HUMAN IN THE LOOP</a:t>
            </a:r>
            <a:endParaRPr lang="en-US" sz="1100" dirty="0"/>
          </a:p>
        </p:txBody>
      </p:sp>
      <p:sp>
        <p:nvSpPr>
          <p:cNvPr id="7" name="Shape 5"/>
          <p:cNvSpPr/>
          <p:nvPr/>
        </p:nvSpPr>
        <p:spPr>
          <a:xfrm>
            <a:off x="365760" y="2240280"/>
            <a:ext cx="73152" cy="658368"/>
          </a:xfrm>
          <a:prstGeom prst="rect">
            <a:avLst/>
          </a:prstGeom>
          <a:solidFill>
            <a:srgbClr val="007886"/>
          </a:solidFill>
          <a:ln w="12700">
            <a:solidFill>
              <a:srgbClr val="007886"/>
            </a:solidFill>
            <a:prstDash val="solid"/>
          </a:ln>
        </p:spPr>
      </p:sp>
      <p:sp>
        <p:nvSpPr>
          <p:cNvPr id="8" name="Shape 6"/>
          <p:cNvSpPr/>
          <p:nvPr/>
        </p:nvSpPr>
        <p:spPr>
          <a:xfrm>
            <a:off x="438912" y="2240280"/>
            <a:ext cx="3858768" cy="658368"/>
          </a:xfrm>
          <a:prstGeom prst="rect">
            <a:avLst/>
          </a:prstGeom>
          <a:solidFill>
            <a:srgbClr val="FFFFFF"/>
          </a:solidFill>
          <a:ln w="9525">
            <a:solidFill>
              <a:srgbClr val="D9D8D7"/>
            </a:solidFill>
            <a:prstDash val="solid"/>
          </a:ln>
        </p:spPr>
      </p:sp>
      <p:sp>
        <p:nvSpPr>
          <p:cNvPr id="9" name="Text 7"/>
          <p:cNvSpPr/>
          <p:nvPr/>
        </p:nvSpPr>
        <p:spPr>
          <a:xfrm>
            <a:off x="594360" y="2295144"/>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High-stakes decisions</a:t>
            </a:r>
            <a:endParaRPr lang="en-US" sz="1300" dirty="0"/>
          </a:p>
        </p:txBody>
      </p:sp>
      <p:sp>
        <p:nvSpPr>
          <p:cNvPr id="10" name="Text 8"/>
          <p:cNvSpPr/>
          <p:nvPr/>
        </p:nvSpPr>
        <p:spPr>
          <a:xfrm>
            <a:off x="594360" y="2560320"/>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Architecture, security, schema changes</a:t>
            </a:r>
            <a:endParaRPr lang="en-US" sz="1100" dirty="0"/>
          </a:p>
        </p:txBody>
      </p:sp>
      <p:sp>
        <p:nvSpPr>
          <p:cNvPr id="11" name="Shape 9"/>
          <p:cNvSpPr/>
          <p:nvPr/>
        </p:nvSpPr>
        <p:spPr>
          <a:xfrm>
            <a:off x="365760" y="2990088"/>
            <a:ext cx="73152" cy="658368"/>
          </a:xfrm>
          <a:prstGeom prst="rect">
            <a:avLst/>
          </a:prstGeom>
          <a:solidFill>
            <a:srgbClr val="007886"/>
          </a:solidFill>
          <a:ln w="12700">
            <a:solidFill>
              <a:srgbClr val="007886"/>
            </a:solidFill>
            <a:prstDash val="solid"/>
          </a:ln>
        </p:spPr>
      </p:sp>
      <p:sp>
        <p:nvSpPr>
          <p:cNvPr id="12" name="Shape 10"/>
          <p:cNvSpPr/>
          <p:nvPr/>
        </p:nvSpPr>
        <p:spPr>
          <a:xfrm>
            <a:off x="438912" y="2990088"/>
            <a:ext cx="3858768" cy="658368"/>
          </a:xfrm>
          <a:prstGeom prst="rect">
            <a:avLst/>
          </a:prstGeom>
          <a:solidFill>
            <a:srgbClr val="FFFFFF"/>
          </a:solidFill>
          <a:ln w="9525">
            <a:solidFill>
              <a:srgbClr val="D9D8D7"/>
            </a:solidFill>
            <a:prstDash val="solid"/>
          </a:ln>
        </p:spPr>
      </p:sp>
      <p:sp>
        <p:nvSpPr>
          <p:cNvPr id="13" name="Text 11"/>
          <p:cNvSpPr/>
          <p:nvPr/>
        </p:nvSpPr>
        <p:spPr>
          <a:xfrm>
            <a:off x="594360" y="3044952"/>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First-time patterns</a:t>
            </a:r>
            <a:endParaRPr lang="en-US" sz="1300" dirty="0"/>
          </a:p>
        </p:txBody>
      </p:sp>
      <p:sp>
        <p:nvSpPr>
          <p:cNvPr id="14" name="Text 12"/>
          <p:cNvSpPr/>
          <p:nvPr/>
        </p:nvSpPr>
        <p:spPr>
          <a:xfrm>
            <a:off x="594360" y="3310128"/>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New domains, unknown territory</a:t>
            </a:r>
            <a:endParaRPr lang="en-US" sz="1100" dirty="0"/>
          </a:p>
        </p:txBody>
      </p:sp>
      <p:sp>
        <p:nvSpPr>
          <p:cNvPr id="15" name="Shape 13"/>
          <p:cNvSpPr/>
          <p:nvPr/>
        </p:nvSpPr>
        <p:spPr>
          <a:xfrm>
            <a:off x="365760" y="3739896"/>
            <a:ext cx="73152" cy="658368"/>
          </a:xfrm>
          <a:prstGeom prst="rect">
            <a:avLst/>
          </a:prstGeom>
          <a:solidFill>
            <a:srgbClr val="007886"/>
          </a:solidFill>
          <a:ln w="12700">
            <a:solidFill>
              <a:srgbClr val="007886"/>
            </a:solidFill>
            <a:prstDash val="solid"/>
          </a:ln>
        </p:spPr>
      </p:sp>
      <p:sp>
        <p:nvSpPr>
          <p:cNvPr id="16" name="Shape 14"/>
          <p:cNvSpPr/>
          <p:nvPr/>
        </p:nvSpPr>
        <p:spPr>
          <a:xfrm>
            <a:off x="438912" y="3739896"/>
            <a:ext cx="3858768" cy="658368"/>
          </a:xfrm>
          <a:prstGeom prst="rect">
            <a:avLst/>
          </a:prstGeom>
          <a:solidFill>
            <a:srgbClr val="FFFFFF"/>
          </a:solidFill>
          <a:ln w="9525">
            <a:solidFill>
              <a:srgbClr val="D9D8D7"/>
            </a:solidFill>
            <a:prstDash val="solid"/>
          </a:ln>
        </p:spPr>
      </p:sp>
      <p:sp>
        <p:nvSpPr>
          <p:cNvPr id="17" name="Text 15"/>
          <p:cNvSpPr/>
          <p:nvPr/>
        </p:nvSpPr>
        <p:spPr>
          <a:xfrm>
            <a:off x="594360" y="3794760"/>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Judgment calls</a:t>
            </a:r>
            <a:endParaRPr lang="en-US" sz="1300" dirty="0"/>
          </a:p>
        </p:txBody>
      </p:sp>
      <p:sp>
        <p:nvSpPr>
          <p:cNvPr id="18" name="Text 16"/>
          <p:cNvSpPr/>
          <p:nvPr/>
        </p:nvSpPr>
        <p:spPr>
          <a:xfrm>
            <a:off x="594360" y="4059936"/>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Trade-offs, ambiguity, customer impact</a:t>
            </a:r>
            <a:endParaRPr lang="en-US" sz="1100" dirty="0"/>
          </a:p>
        </p:txBody>
      </p:sp>
      <p:sp>
        <p:nvSpPr>
          <p:cNvPr id="19" name="Text 17"/>
          <p:cNvSpPr/>
          <p:nvPr/>
        </p:nvSpPr>
        <p:spPr>
          <a:xfrm>
            <a:off x="4846320" y="1965960"/>
            <a:ext cx="3931920" cy="228600"/>
          </a:xfrm>
          <a:prstGeom prst="rect">
            <a:avLst/>
          </a:prstGeom>
          <a:noFill/>
          <a:ln/>
        </p:spPr>
        <p:txBody>
          <a:bodyPr wrap="square" lIns="0" tIns="0" rIns="0" bIns="0" rtlCol="0" anchor="ctr"/>
          <a:lstStyle/>
          <a:p>
            <a:pPr marL="0" indent="0">
              <a:buNone/>
            </a:pPr>
            <a:r>
              <a:rPr lang="en-US" sz="1100" b="1" kern="0" spc="400" dirty="0">
                <a:solidFill>
                  <a:srgbClr val="E3780D"/>
                </a:solidFill>
                <a:latin typeface="Calibri" pitchFamily="34" charset="0"/>
                <a:ea typeface="Calibri" pitchFamily="34" charset="-122"/>
                <a:cs typeface="Calibri" pitchFamily="34" charset="-120"/>
              </a:rPr>
              <a:t>AFK — AWAY FROM KEYBOARD</a:t>
            </a:r>
            <a:endParaRPr lang="en-US" sz="1100" dirty="0"/>
          </a:p>
        </p:txBody>
      </p:sp>
      <p:sp>
        <p:nvSpPr>
          <p:cNvPr id="20" name="Shape 18"/>
          <p:cNvSpPr/>
          <p:nvPr/>
        </p:nvSpPr>
        <p:spPr>
          <a:xfrm>
            <a:off x="4846320" y="2240280"/>
            <a:ext cx="73152" cy="658368"/>
          </a:xfrm>
          <a:prstGeom prst="rect">
            <a:avLst/>
          </a:prstGeom>
          <a:solidFill>
            <a:srgbClr val="E3780D"/>
          </a:solidFill>
          <a:ln w="12700">
            <a:solidFill>
              <a:srgbClr val="E3780D"/>
            </a:solidFill>
            <a:prstDash val="solid"/>
          </a:ln>
        </p:spPr>
      </p:sp>
      <p:sp>
        <p:nvSpPr>
          <p:cNvPr id="21" name="Shape 19"/>
          <p:cNvSpPr/>
          <p:nvPr/>
        </p:nvSpPr>
        <p:spPr>
          <a:xfrm>
            <a:off x="4919472" y="2240280"/>
            <a:ext cx="3858768" cy="658368"/>
          </a:xfrm>
          <a:prstGeom prst="rect">
            <a:avLst/>
          </a:prstGeom>
          <a:solidFill>
            <a:srgbClr val="FFFFFF"/>
          </a:solidFill>
          <a:ln w="9525">
            <a:solidFill>
              <a:srgbClr val="D9D8D7"/>
            </a:solidFill>
            <a:prstDash val="solid"/>
          </a:ln>
        </p:spPr>
      </p:sp>
      <p:sp>
        <p:nvSpPr>
          <p:cNvPr id="22" name="Text 20"/>
          <p:cNvSpPr/>
          <p:nvPr/>
        </p:nvSpPr>
        <p:spPr>
          <a:xfrm>
            <a:off x="5074920" y="2295144"/>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Well-defined work</a:t>
            </a:r>
            <a:endParaRPr lang="en-US" sz="1300" dirty="0"/>
          </a:p>
        </p:txBody>
      </p:sp>
      <p:sp>
        <p:nvSpPr>
          <p:cNvPr id="23" name="Text 21"/>
          <p:cNvSpPr/>
          <p:nvPr/>
        </p:nvSpPr>
        <p:spPr>
          <a:xfrm>
            <a:off x="5074920" y="2560320"/>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CRUD endpoints, standard integrations</a:t>
            </a:r>
            <a:endParaRPr lang="en-US" sz="1100" dirty="0"/>
          </a:p>
        </p:txBody>
      </p:sp>
      <p:sp>
        <p:nvSpPr>
          <p:cNvPr id="24" name="Shape 22"/>
          <p:cNvSpPr/>
          <p:nvPr/>
        </p:nvSpPr>
        <p:spPr>
          <a:xfrm>
            <a:off x="4846320" y="2990088"/>
            <a:ext cx="73152" cy="658368"/>
          </a:xfrm>
          <a:prstGeom prst="rect">
            <a:avLst/>
          </a:prstGeom>
          <a:solidFill>
            <a:srgbClr val="E3780D"/>
          </a:solidFill>
          <a:ln w="12700">
            <a:solidFill>
              <a:srgbClr val="E3780D"/>
            </a:solidFill>
            <a:prstDash val="solid"/>
          </a:ln>
        </p:spPr>
      </p:sp>
      <p:sp>
        <p:nvSpPr>
          <p:cNvPr id="25" name="Shape 23"/>
          <p:cNvSpPr/>
          <p:nvPr/>
        </p:nvSpPr>
        <p:spPr>
          <a:xfrm>
            <a:off x="4919472" y="2990088"/>
            <a:ext cx="3858768" cy="658368"/>
          </a:xfrm>
          <a:prstGeom prst="rect">
            <a:avLst/>
          </a:prstGeom>
          <a:solidFill>
            <a:srgbClr val="FFFFFF"/>
          </a:solidFill>
          <a:ln w="9525">
            <a:solidFill>
              <a:srgbClr val="D9D8D7"/>
            </a:solidFill>
            <a:prstDash val="solid"/>
          </a:ln>
        </p:spPr>
      </p:sp>
      <p:sp>
        <p:nvSpPr>
          <p:cNvPr id="26" name="Text 24"/>
          <p:cNvSpPr/>
          <p:nvPr/>
        </p:nvSpPr>
        <p:spPr>
          <a:xfrm>
            <a:off x="5074920" y="3044952"/>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Clear repro bug fixes</a:t>
            </a:r>
            <a:endParaRPr lang="en-US" sz="1300" dirty="0"/>
          </a:p>
        </p:txBody>
      </p:sp>
      <p:sp>
        <p:nvSpPr>
          <p:cNvPr id="27" name="Text 25"/>
          <p:cNvSpPr/>
          <p:nvPr/>
        </p:nvSpPr>
        <p:spPr>
          <a:xfrm>
            <a:off x="5074920" y="3310128"/>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Defects with known cause and scope</a:t>
            </a:r>
            <a:endParaRPr lang="en-US" sz="1100" dirty="0"/>
          </a:p>
        </p:txBody>
      </p:sp>
      <p:sp>
        <p:nvSpPr>
          <p:cNvPr id="28" name="Shape 26"/>
          <p:cNvSpPr/>
          <p:nvPr/>
        </p:nvSpPr>
        <p:spPr>
          <a:xfrm>
            <a:off x="4846320" y="3739896"/>
            <a:ext cx="73152" cy="658368"/>
          </a:xfrm>
          <a:prstGeom prst="rect">
            <a:avLst/>
          </a:prstGeom>
          <a:solidFill>
            <a:srgbClr val="E3780D"/>
          </a:solidFill>
          <a:ln w="12700">
            <a:solidFill>
              <a:srgbClr val="E3780D"/>
            </a:solidFill>
            <a:prstDash val="solid"/>
          </a:ln>
        </p:spPr>
      </p:sp>
      <p:sp>
        <p:nvSpPr>
          <p:cNvPr id="29" name="Shape 27"/>
          <p:cNvSpPr/>
          <p:nvPr/>
        </p:nvSpPr>
        <p:spPr>
          <a:xfrm>
            <a:off x="4919472" y="3739896"/>
            <a:ext cx="3858768" cy="658368"/>
          </a:xfrm>
          <a:prstGeom prst="rect">
            <a:avLst/>
          </a:prstGeom>
          <a:solidFill>
            <a:srgbClr val="FFFFFF"/>
          </a:solidFill>
          <a:ln w="9525">
            <a:solidFill>
              <a:srgbClr val="D9D8D7"/>
            </a:solidFill>
            <a:prstDash val="solid"/>
          </a:ln>
        </p:spPr>
      </p:sp>
      <p:sp>
        <p:nvSpPr>
          <p:cNvPr id="30" name="Text 28"/>
          <p:cNvSpPr/>
          <p:nvPr/>
        </p:nvSpPr>
        <p:spPr>
          <a:xfrm>
            <a:off x="5074920" y="3794760"/>
            <a:ext cx="3657600" cy="274320"/>
          </a:xfrm>
          <a:prstGeom prst="rect">
            <a:avLst/>
          </a:prstGeom>
          <a:noFill/>
          <a:ln/>
        </p:spPr>
        <p:txBody>
          <a:bodyPr wrap="square" lIns="0" tIns="0" rIns="0" bIns="0" rtlCol="0" anchor="ctr"/>
          <a:lstStyle/>
          <a:p>
            <a:pPr marL="0" indent="0">
              <a:buNone/>
            </a:pPr>
            <a:r>
              <a:rPr lang="en-US" sz="1300" b="1" dirty="0">
                <a:solidFill>
                  <a:srgbClr val="003F68"/>
                </a:solidFill>
                <a:latin typeface="Calibri" pitchFamily="34" charset="0"/>
                <a:ea typeface="Calibri" pitchFamily="34" charset="-122"/>
                <a:cs typeface="Calibri" pitchFamily="34" charset="-120"/>
              </a:rPr>
              <a:t>Test generation</a:t>
            </a:r>
            <a:endParaRPr lang="en-US" sz="1300" dirty="0"/>
          </a:p>
        </p:txBody>
      </p:sp>
      <p:sp>
        <p:nvSpPr>
          <p:cNvPr id="31" name="Text 29"/>
          <p:cNvSpPr/>
          <p:nvPr/>
        </p:nvSpPr>
        <p:spPr>
          <a:xfrm>
            <a:off x="5074920" y="4059936"/>
            <a:ext cx="3657600" cy="27432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Established patterns, existing contracts</a:t>
            </a:r>
            <a:endParaRPr lang="en-US" sz="1100" dirty="0"/>
          </a:p>
        </p:txBody>
      </p:sp>
      <p:sp>
        <p:nvSpPr>
          <p:cNvPr id="32" name="Shape 30"/>
          <p:cNvSpPr/>
          <p:nvPr/>
        </p:nvSpPr>
        <p:spPr>
          <a:xfrm>
            <a:off x="365760" y="4526280"/>
            <a:ext cx="8412480" cy="411480"/>
          </a:xfrm>
          <a:prstGeom prst="rect">
            <a:avLst/>
          </a:prstGeom>
          <a:solidFill>
            <a:srgbClr val="007886"/>
          </a:solidFill>
          <a:ln w="12700">
            <a:solidFill>
              <a:srgbClr val="007886"/>
            </a:solidFill>
            <a:prstDash val="solid"/>
          </a:ln>
        </p:spPr>
      </p:sp>
      <p:sp>
        <p:nvSpPr>
          <p:cNvPr id="33" name="Text 31"/>
          <p:cNvSpPr/>
          <p:nvPr/>
        </p:nvSpPr>
        <p:spPr>
          <a:xfrm>
            <a:off x="365760" y="4526280"/>
            <a:ext cx="8412480" cy="411480"/>
          </a:xfrm>
          <a:prstGeom prst="rect">
            <a:avLst/>
          </a:prstGeom>
          <a:noFill/>
          <a:ln/>
        </p:spPr>
        <p:txBody>
          <a:bodyPr wrap="square" lIns="0" tIns="0" rIns="0" bIns="0" rtlCol="0" anchor="ctr"/>
          <a:lstStyle/>
          <a:p>
            <a:pPr marL="0" indent="0" algn="ctr">
              <a:buNone/>
            </a:pPr>
            <a:r>
              <a:rPr lang="en-US" sz="1200" b="1" i="1" dirty="0">
                <a:solidFill>
                  <a:srgbClr val="FFFFFF"/>
                </a:solidFill>
                <a:latin typeface="Calibri" pitchFamily="34" charset="0"/>
                <a:ea typeface="Calibri" pitchFamily="34" charset="-122"/>
                <a:cs typeface="Calibri" pitchFamily="34" charset="-120"/>
              </a:rPr>
              <a:t>"AFK keeps the AI working while you're in meetings. HITL stops and asks when it matters."</a:t>
            </a:r>
            <a:endParaRPr lang="en-US" sz="1200" dirty="0"/>
          </a:p>
        </p:txBody>
      </p:sp>
      <p:sp>
        <p:nvSpPr>
          <p:cNvPr id="34" name="Text 32"/>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35" name="Text 33"/>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TOOL-AGNOSTIC BY DESIGN</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640080"/>
          </a:xfrm>
          <a:prstGeom prst="rect">
            <a:avLst/>
          </a:prstGeom>
          <a:noFill/>
          <a:ln/>
        </p:spPr>
        <p:txBody>
          <a:bodyPr wrap="square" lIns="0" tIns="0" rIns="0" bIns="0" rtlCol="0" anchor="ctr"/>
          <a:lstStyle/>
          <a:p>
            <a:pPr marL="0" indent="0">
              <a:buNone/>
            </a:pPr>
            <a:r>
              <a:rPr lang="en-US" sz="3000" b="1" dirty="0">
                <a:solidFill>
                  <a:srgbClr val="003F68"/>
                </a:solidFill>
                <a:latin typeface="Calibri" pitchFamily="34" charset="0"/>
                <a:ea typeface="Calibri" pitchFamily="34" charset="-122"/>
                <a:cs typeface="Calibri" pitchFamily="34" charset="-120"/>
              </a:rPr>
              <a:t>Copilot today. </a:t>
            </a:r>
            <a:r>
              <a:rPr lang="en-US" sz="3000" b="1" dirty="0">
                <a:solidFill>
                  <a:srgbClr val="E3780D"/>
                </a:solidFill>
                <a:latin typeface="Calibri" pitchFamily="34" charset="0"/>
                <a:ea typeface="Calibri" pitchFamily="34" charset="-122"/>
                <a:cs typeface="Calibri" pitchFamily="34" charset="-120"/>
              </a:rPr>
              <a:t>Any AI tomorrow.</a:t>
            </a:r>
            <a:endParaRPr lang="en-US" sz="3000" dirty="0"/>
          </a:p>
        </p:txBody>
      </p:sp>
      <p:sp>
        <p:nvSpPr>
          <p:cNvPr id="5" name="Text 3"/>
          <p:cNvSpPr/>
          <p:nvPr/>
        </p:nvSpPr>
        <p:spPr>
          <a:xfrm>
            <a:off x="365760" y="1417320"/>
            <a:ext cx="8412480" cy="731520"/>
          </a:xfrm>
          <a:prstGeom prst="rect">
            <a:avLst/>
          </a:prstGeom>
          <a:noFill/>
          <a:ln/>
        </p:spPr>
        <p:txBody>
          <a:bodyPr wrap="square" lIns="0" tIns="0" rIns="0" bIns="0" rtlCol="0" anchor="ctr"/>
          <a:lstStyle/>
          <a:p>
            <a:pPr marL="0" indent="0">
              <a:buNone/>
            </a:pPr>
            <a:r>
              <a:rPr lang="en-US" sz="1200" dirty="0">
                <a:solidFill>
                  <a:srgbClr val="4D4E53"/>
                </a:solidFill>
                <a:latin typeface="Calibri" pitchFamily="34" charset="0"/>
                <a:ea typeface="Calibri" pitchFamily="34" charset="-122"/>
                <a:cs typeface="Calibri" pitchFamily="34" charset="-120"/>
              </a:rPr>
              <a:t>The loop is the asset — not the vendor. We run on GitHub Copilot today because the team and the tools already live in GitHub. If something better comes along, we swap the engine without rebuilding the process.</a:t>
            </a:r>
            <a:endParaRPr lang="en-US" sz="1200" dirty="0"/>
          </a:p>
        </p:txBody>
      </p:sp>
      <p:sp>
        <p:nvSpPr>
          <p:cNvPr id="6" name="Shape 4"/>
          <p:cNvSpPr/>
          <p:nvPr/>
        </p:nvSpPr>
        <p:spPr>
          <a:xfrm>
            <a:off x="365760" y="2377440"/>
            <a:ext cx="1536192" cy="1554480"/>
          </a:xfrm>
          <a:prstGeom prst="rect">
            <a:avLst/>
          </a:prstGeom>
          <a:solidFill>
            <a:srgbClr val="FFFFFF"/>
          </a:solidFill>
          <a:ln w="25400">
            <a:solidFill>
              <a:srgbClr val="007886"/>
            </a:solidFill>
            <a:prstDash val="solid"/>
          </a:ln>
        </p:spPr>
      </p:sp>
      <p:sp>
        <p:nvSpPr>
          <p:cNvPr id="7" name="Shape 5"/>
          <p:cNvSpPr/>
          <p:nvPr/>
        </p:nvSpPr>
        <p:spPr>
          <a:xfrm>
            <a:off x="365760" y="2377440"/>
            <a:ext cx="1536192" cy="45720"/>
          </a:xfrm>
          <a:prstGeom prst="rect">
            <a:avLst/>
          </a:prstGeom>
          <a:solidFill>
            <a:srgbClr val="007886"/>
          </a:solidFill>
          <a:ln w="12700">
            <a:solidFill>
              <a:srgbClr val="007886"/>
            </a:solidFill>
            <a:prstDash val="solid"/>
          </a:ln>
        </p:spPr>
      </p:sp>
      <p:sp>
        <p:nvSpPr>
          <p:cNvPr id="8" name="Text 6"/>
          <p:cNvSpPr/>
          <p:nvPr/>
        </p:nvSpPr>
        <p:spPr>
          <a:xfrm>
            <a:off x="438912" y="2560320"/>
            <a:ext cx="1389888" cy="685800"/>
          </a:xfrm>
          <a:prstGeom prst="rect">
            <a:avLst/>
          </a:prstGeom>
          <a:noFill/>
          <a:ln/>
        </p:spPr>
        <p:txBody>
          <a:bodyPr wrap="square" lIns="0" tIns="0" rIns="0" bIns="0" rtlCol="0" anchor="ctr"/>
          <a:lstStyle/>
          <a:p>
            <a:pPr marL="0" indent="0" algn="ctr">
              <a:buNone/>
            </a:pPr>
            <a:r>
              <a:rPr lang="en-US" sz="1400" b="1" dirty="0">
                <a:solidFill>
                  <a:srgbClr val="003F68"/>
                </a:solidFill>
                <a:latin typeface="Calibri" pitchFamily="34" charset="0"/>
                <a:ea typeface="Calibri" pitchFamily="34" charset="-122"/>
                <a:cs typeface="Calibri" pitchFamily="34" charset="-120"/>
              </a:rPr>
              <a:t>GitHub</a:t>
            </a:r>
            <a:endParaRPr lang="en-US" sz="1400" dirty="0"/>
          </a:p>
          <a:p>
            <a:pPr marL="0" indent="0" algn="ctr">
              <a:buNone/>
            </a:pPr>
            <a:r>
              <a:rPr lang="en-US" sz="1400" b="1" dirty="0">
                <a:solidFill>
                  <a:srgbClr val="003F68"/>
                </a:solidFill>
                <a:latin typeface="Calibri" pitchFamily="34" charset="0"/>
                <a:ea typeface="Calibri" pitchFamily="34" charset="-122"/>
                <a:cs typeface="Calibri" pitchFamily="34" charset="-120"/>
              </a:rPr>
              <a:t>Copilot</a:t>
            </a:r>
            <a:endParaRPr lang="en-US" sz="1400" dirty="0"/>
          </a:p>
        </p:txBody>
      </p:sp>
      <p:sp>
        <p:nvSpPr>
          <p:cNvPr id="9" name="Text 7"/>
          <p:cNvSpPr/>
          <p:nvPr/>
        </p:nvSpPr>
        <p:spPr>
          <a:xfrm>
            <a:off x="438912" y="3291840"/>
            <a:ext cx="1389888" cy="548640"/>
          </a:xfrm>
          <a:prstGeom prst="rect">
            <a:avLst/>
          </a:prstGeom>
          <a:noFill/>
          <a:ln/>
        </p:spPr>
        <p:txBody>
          <a:bodyPr wrap="square" lIns="0" tIns="0" rIns="0" bIns="0" rtlCol="0" anchor="ctr"/>
          <a:lstStyle/>
          <a:p>
            <a:pPr marL="0" indent="0" algn="ctr">
              <a:buNone/>
            </a:pPr>
            <a:r>
              <a:rPr lang="en-US" sz="1000" b="1" i="1" dirty="0">
                <a:solidFill>
                  <a:srgbClr val="007886"/>
                </a:solidFill>
                <a:latin typeface="Calibri" pitchFamily="34" charset="0"/>
                <a:ea typeface="Calibri" pitchFamily="34" charset="-122"/>
                <a:cs typeface="Calibri" pitchFamily="34" charset="-120"/>
              </a:rPr>
              <a:t>Our engine today</a:t>
            </a:r>
            <a:endParaRPr lang="en-US" sz="1000" dirty="0"/>
          </a:p>
        </p:txBody>
      </p:sp>
      <p:sp>
        <p:nvSpPr>
          <p:cNvPr id="10" name="Shape 8"/>
          <p:cNvSpPr/>
          <p:nvPr/>
        </p:nvSpPr>
        <p:spPr>
          <a:xfrm>
            <a:off x="2084832" y="2377440"/>
            <a:ext cx="1536192" cy="1554480"/>
          </a:xfrm>
          <a:prstGeom prst="rect">
            <a:avLst/>
          </a:prstGeom>
          <a:solidFill>
            <a:srgbClr val="FFFFFF"/>
          </a:solidFill>
          <a:ln w="9525">
            <a:solidFill>
              <a:srgbClr val="D9D8D7"/>
            </a:solidFill>
            <a:prstDash val="solid"/>
          </a:ln>
        </p:spPr>
      </p:sp>
      <p:sp>
        <p:nvSpPr>
          <p:cNvPr id="11" name="Shape 9"/>
          <p:cNvSpPr/>
          <p:nvPr/>
        </p:nvSpPr>
        <p:spPr>
          <a:xfrm>
            <a:off x="2084832" y="2377440"/>
            <a:ext cx="1536192" cy="45720"/>
          </a:xfrm>
          <a:prstGeom prst="rect">
            <a:avLst/>
          </a:prstGeom>
          <a:solidFill>
            <a:srgbClr val="009FB8"/>
          </a:solidFill>
          <a:ln w="12700">
            <a:solidFill>
              <a:srgbClr val="009FB8"/>
            </a:solidFill>
            <a:prstDash val="solid"/>
          </a:ln>
        </p:spPr>
      </p:sp>
      <p:sp>
        <p:nvSpPr>
          <p:cNvPr id="12" name="Text 10"/>
          <p:cNvSpPr/>
          <p:nvPr/>
        </p:nvSpPr>
        <p:spPr>
          <a:xfrm>
            <a:off x="2157984" y="2560320"/>
            <a:ext cx="1389888" cy="685800"/>
          </a:xfrm>
          <a:prstGeom prst="rect">
            <a:avLst/>
          </a:prstGeom>
          <a:noFill/>
          <a:ln/>
        </p:spPr>
        <p:txBody>
          <a:bodyPr wrap="square" lIns="0" tIns="0" rIns="0" bIns="0" rtlCol="0" anchor="ctr"/>
          <a:lstStyle/>
          <a:p>
            <a:pPr marL="0" indent="0" algn="ctr">
              <a:buNone/>
            </a:pPr>
            <a:r>
              <a:rPr lang="en-US" sz="1400" b="1" dirty="0">
                <a:solidFill>
                  <a:srgbClr val="003F68"/>
                </a:solidFill>
                <a:latin typeface="Calibri" pitchFamily="34" charset="0"/>
                <a:ea typeface="Calibri" pitchFamily="34" charset="-122"/>
                <a:cs typeface="Calibri" pitchFamily="34" charset="-120"/>
              </a:rPr>
              <a:t>Claude</a:t>
            </a:r>
            <a:endParaRPr lang="en-US" sz="1400" dirty="0"/>
          </a:p>
          <a:p>
            <a:pPr marL="0" indent="0" algn="ctr">
              <a:buNone/>
            </a:pPr>
            <a:r>
              <a:rPr lang="en-US" sz="1400" b="1" dirty="0">
                <a:solidFill>
                  <a:srgbClr val="003F68"/>
                </a:solidFill>
                <a:latin typeface="Calibri" pitchFamily="34" charset="0"/>
                <a:ea typeface="Calibri" pitchFamily="34" charset="-122"/>
                <a:cs typeface="Calibri" pitchFamily="34" charset="-120"/>
              </a:rPr>
              <a:t>Code</a:t>
            </a:r>
            <a:endParaRPr lang="en-US" sz="1400" dirty="0"/>
          </a:p>
        </p:txBody>
      </p:sp>
      <p:sp>
        <p:nvSpPr>
          <p:cNvPr id="13" name="Text 11"/>
          <p:cNvSpPr/>
          <p:nvPr/>
        </p:nvSpPr>
        <p:spPr>
          <a:xfrm>
            <a:off x="2157984" y="3291840"/>
            <a:ext cx="1389888" cy="548640"/>
          </a:xfrm>
          <a:prstGeom prst="rect">
            <a:avLst/>
          </a:prstGeom>
          <a:noFill/>
          <a:ln/>
        </p:spPr>
        <p:txBody>
          <a:bodyPr wrap="square" lIns="0" tIns="0" rIns="0" bIns="0" rtlCol="0" anchor="ctr"/>
          <a:lstStyle/>
          <a:p>
            <a:pPr marL="0" indent="0" algn="ctr">
              <a:buNone/>
            </a:pPr>
            <a:r>
              <a:rPr lang="en-US" sz="1000" i="1" dirty="0">
                <a:solidFill>
                  <a:srgbClr val="009FB8"/>
                </a:solidFill>
                <a:latin typeface="Calibri" pitchFamily="34" charset="0"/>
                <a:ea typeface="Calibri" pitchFamily="34" charset="-122"/>
                <a:cs typeface="Calibri" pitchFamily="34" charset="-120"/>
              </a:rPr>
              <a:t>Proven alternative</a:t>
            </a:r>
            <a:endParaRPr lang="en-US" sz="1000" dirty="0"/>
          </a:p>
        </p:txBody>
      </p:sp>
      <p:sp>
        <p:nvSpPr>
          <p:cNvPr id="14" name="Shape 12"/>
          <p:cNvSpPr/>
          <p:nvPr/>
        </p:nvSpPr>
        <p:spPr>
          <a:xfrm>
            <a:off x="3803904" y="2377440"/>
            <a:ext cx="1536192" cy="1554480"/>
          </a:xfrm>
          <a:prstGeom prst="rect">
            <a:avLst/>
          </a:prstGeom>
          <a:solidFill>
            <a:srgbClr val="FFFFFF"/>
          </a:solidFill>
          <a:ln w="9525">
            <a:solidFill>
              <a:srgbClr val="D9D8D7"/>
            </a:solidFill>
            <a:prstDash val="solid"/>
          </a:ln>
        </p:spPr>
      </p:sp>
      <p:sp>
        <p:nvSpPr>
          <p:cNvPr id="15" name="Shape 13"/>
          <p:cNvSpPr/>
          <p:nvPr/>
        </p:nvSpPr>
        <p:spPr>
          <a:xfrm>
            <a:off x="3803904" y="2377440"/>
            <a:ext cx="1536192" cy="45720"/>
          </a:xfrm>
          <a:prstGeom prst="rect">
            <a:avLst/>
          </a:prstGeom>
          <a:solidFill>
            <a:srgbClr val="462C67"/>
          </a:solidFill>
          <a:ln w="12700">
            <a:solidFill>
              <a:srgbClr val="462C67"/>
            </a:solidFill>
            <a:prstDash val="solid"/>
          </a:ln>
        </p:spPr>
      </p:sp>
      <p:sp>
        <p:nvSpPr>
          <p:cNvPr id="16" name="Text 14"/>
          <p:cNvSpPr/>
          <p:nvPr/>
        </p:nvSpPr>
        <p:spPr>
          <a:xfrm>
            <a:off x="3877056" y="2560320"/>
            <a:ext cx="1389888" cy="685800"/>
          </a:xfrm>
          <a:prstGeom prst="rect">
            <a:avLst/>
          </a:prstGeom>
          <a:noFill/>
          <a:ln/>
        </p:spPr>
        <p:txBody>
          <a:bodyPr wrap="square" lIns="0" tIns="0" rIns="0" bIns="0" rtlCol="0" anchor="ctr"/>
          <a:lstStyle/>
          <a:p>
            <a:pPr marL="0" indent="0" algn="ctr">
              <a:buNone/>
            </a:pPr>
            <a:r>
              <a:rPr lang="en-US" sz="1400" b="1" dirty="0">
                <a:solidFill>
                  <a:srgbClr val="003F68"/>
                </a:solidFill>
                <a:latin typeface="Calibri" pitchFamily="34" charset="0"/>
                <a:ea typeface="Calibri" pitchFamily="34" charset="-122"/>
                <a:cs typeface="Calibri" pitchFamily="34" charset="-120"/>
              </a:rPr>
              <a:t>Cursor</a:t>
            </a:r>
            <a:endParaRPr lang="en-US" sz="1400" dirty="0"/>
          </a:p>
        </p:txBody>
      </p:sp>
      <p:sp>
        <p:nvSpPr>
          <p:cNvPr id="17" name="Text 15"/>
          <p:cNvSpPr/>
          <p:nvPr/>
        </p:nvSpPr>
        <p:spPr>
          <a:xfrm>
            <a:off x="3877056" y="3291840"/>
            <a:ext cx="1389888" cy="548640"/>
          </a:xfrm>
          <a:prstGeom prst="rect">
            <a:avLst/>
          </a:prstGeom>
          <a:noFill/>
          <a:ln/>
        </p:spPr>
        <p:txBody>
          <a:bodyPr wrap="square" lIns="0" tIns="0" rIns="0" bIns="0" rtlCol="0" anchor="ctr"/>
          <a:lstStyle/>
          <a:p>
            <a:pPr marL="0" indent="0" algn="ctr">
              <a:buNone/>
            </a:pPr>
            <a:r>
              <a:rPr lang="en-US" sz="1000" i="1" dirty="0">
                <a:solidFill>
                  <a:srgbClr val="462C67"/>
                </a:solidFill>
                <a:latin typeface="Calibri" pitchFamily="34" charset="0"/>
                <a:ea typeface="Calibri" pitchFamily="34" charset="-122"/>
                <a:cs typeface="Calibri" pitchFamily="34" charset="-120"/>
              </a:rPr>
              <a:t>Editor-native option</a:t>
            </a:r>
            <a:endParaRPr lang="en-US" sz="1000" dirty="0"/>
          </a:p>
        </p:txBody>
      </p:sp>
      <p:sp>
        <p:nvSpPr>
          <p:cNvPr id="18" name="Shape 16"/>
          <p:cNvSpPr/>
          <p:nvPr/>
        </p:nvSpPr>
        <p:spPr>
          <a:xfrm>
            <a:off x="5522976" y="2377440"/>
            <a:ext cx="1536192" cy="1554480"/>
          </a:xfrm>
          <a:prstGeom prst="rect">
            <a:avLst/>
          </a:prstGeom>
          <a:solidFill>
            <a:srgbClr val="FFFFFF"/>
          </a:solidFill>
          <a:ln w="9525">
            <a:solidFill>
              <a:srgbClr val="D9D8D7"/>
            </a:solidFill>
            <a:prstDash val="solid"/>
          </a:ln>
        </p:spPr>
      </p:sp>
      <p:sp>
        <p:nvSpPr>
          <p:cNvPr id="19" name="Shape 17"/>
          <p:cNvSpPr/>
          <p:nvPr/>
        </p:nvSpPr>
        <p:spPr>
          <a:xfrm>
            <a:off x="5522976" y="2377440"/>
            <a:ext cx="1536192" cy="45720"/>
          </a:xfrm>
          <a:prstGeom prst="rect">
            <a:avLst/>
          </a:prstGeom>
          <a:solidFill>
            <a:srgbClr val="E3780D"/>
          </a:solidFill>
          <a:ln w="12700">
            <a:solidFill>
              <a:srgbClr val="E3780D"/>
            </a:solidFill>
            <a:prstDash val="solid"/>
          </a:ln>
        </p:spPr>
      </p:sp>
      <p:sp>
        <p:nvSpPr>
          <p:cNvPr id="20" name="Text 18"/>
          <p:cNvSpPr/>
          <p:nvPr/>
        </p:nvSpPr>
        <p:spPr>
          <a:xfrm>
            <a:off x="5596128" y="2560320"/>
            <a:ext cx="1389888" cy="685800"/>
          </a:xfrm>
          <a:prstGeom prst="rect">
            <a:avLst/>
          </a:prstGeom>
          <a:noFill/>
          <a:ln/>
        </p:spPr>
        <p:txBody>
          <a:bodyPr wrap="square" lIns="0" tIns="0" rIns="0" bIns="0" rtlCol="0" anchor="ctr"/>
          <a:lstStyle/>
          <a:p>
            <a:pPr marL="0" indent="0" algn="ctr">
              <a:buNone/>
            </a:pPr>
            <a:r>
              <a:rPr lang="en-US" sz="1400" b="1" dirty="0">
                <a:solidFill>
                  <a:srgbClr val="003F68"/>
                </a:solidFill>
                <a:latin typeface="Calibri" pitchFamily="34" charset="0"/>
                <a:ea typeface="Calibri" pitchFamily="34" charset="-122"/>
                <a:cs typeface="Calibri" pitchFamily="34" charset="-120"/>
              </a:rPr>
              <a:t>Gemini</a:t>
            </a:r>
            <a:endParaRPr lang="en-US" sz="1400" dirty="0"/>
          </a:p>
          <a:p>
            <a:pPr marL="0" indent="0" algn="ctr">
              <a:buNone/>
            </a:pPr>
            <a:r>
              <a:rPr lang="en-US" sz="1400" b="1" dirty="0">
                <a:solidFill>
                  <a:srgbClr val="003F68"/>
                </a:solidFill>
                <a:latin typeface="Calibri" pitchFamily="34" charset="0"/>
                <a:ea typeface="Calibri" pitchFamily="34" charset="-122"/>
                <a:cs typeface="Calibri" pitchFamily="34" charset="-120"/>
              </a:rPr>
              <a:t>Code Assist</a:t>
            </a:r>
            <a:endParaRPr lang="en-US" sz="1400" dirty="0"/>
          </a:p>
        </p:txBody>
      </p:sp>
      <p:sp>
        <p:nvSpPr>
          <p:cNvPr id="21" name="Text 19"/>
          <p:cNvSpPr/>
          <p:nvPr/>
        </p:nvSpPr>
        <p:spPr>
          <a:xfrm>
            <a:off x="5596128" y="3291840"/>
            <a:ext cx="1389888" cy="548640"/>
          </a:xfrm>
          <a:prstGeom prst="rect">
            <a:avLst/>
          </a:prstGeom>
          <a:noFill/>
          <a:ln/>
        </p:spPr>
        <p:txBody>
          <a:bodyPr wrap="square" lIns="0" tIns="0" rIns="0" bIns="0" rtlCol="0" anchor="ctr"/>
          <a:lstStyle/>
          <a:p>
            <a:pPr marL="0" indent="0" algn="ctr">
              <a:buNone/>
            </a:pPr>
            <a:r>
              <a:rPr lang="en-US" sz="1000" i="1" dirty="0">
                <a:solidFill>
                  <a:srgbClr val="E3780D"/>
                </a:solidFill>
                <a:latin typeface="Calibri" pitchFamily="34" charset="0"/>
                <a:ea typeface="Calibri" pitchFamily="34" charset="-122"/>
                <a:cs typeface="Calibri" pitchFamily="34" charset="-120"/>
              </a:rPr>
              <a:t>Enterprise-ready</a:t>
            </a:r>
            <a:endParaRPr lang="en-US" sz="1000" dirty="0"/>
          </a:p>
        </p:txBody>
      </p:sp>
      <p:sp>
        <p:nvSpPr>
          <p:cNvPr id="22" name="Shape 20"/>
          <p:cNvSpPr/>
          <p:nvPr/>
        </p:nvSpPr>
        <p:spPr>
          <a:xfrm>
            <a:off x="7242048" y="2377440"/>
            <a:ext cx="1536192" cy="1554480"/>
          </a:xfrm>
          <a:prstGeom prst="rect">
            <a:avLst/>
          </a:prstGeom>
          <a:solidFill>
            <a:srgbClr val="FFFFFF"/>
          </a:solidFill>
          <a:ln w="9525">
            <a:solidFill>
              <a:srgbClr val="D9D8D7"/>
            </a:solidFill>
            <a:prstDash val="solid"/>
          </a:ln>
        </p:spPr>
      </p:sp>
      <p:sp>
        <p:nvSpPr>
          <p:cNvPr id="23" name="Shape 21"/>
          <p:cNvSpPr/>
          <p:nvPr/>
        </p:nvSpPr>
        <p:spPr>
          <a:xfrm>
            <a:off x="7242048" y="2377440"/>
            <a:ext cx="1536192" cy="45720"/>
          </a:xfrm>
          <a:prstGeom prst="rect">
            <a:avLst/>
          </a:prstGeom>
          <a:solidFill>
            <a:srgbClr val="44790B"/>
          </a:solidFill>
          <a:ln w="12700">
            <a:solidFill>
              <a:srgbClr val="44790B"/>
            </a:solidFill>
            <a:prstDash val="solid"/>
          </a:ln>
        </p:spPr>
      </p:sp>
      <p:sp>
        <p:nvSpPr>
          <p:cNvPr id="24" name="Text 22"/>
          <p:cNvSpPr/>
          <p:nvPr/>
        </p:nvSpPr>
        <p:spPr>
          <a:xfrm>
            <a:off x="7315200" y="2560320"/>
            <a:ext cx="1389888" cy="685800"/>
          </a:xfrm>
          <a:prstGeom prst="rect">
            <a:avLst/>
          </a:prstGeom>
          <a:noFill/>
          <a:ln/>
        </p:spPr>
        <p:txBody>
          <a:bodyPr wrap="square" lIns="0" tIns="0" rIns="0" bIns="0" rtlCol="0" anchor="ctr"/>
          <a:lstStyle/>
          <a:p>
            <a:pPr marL="0" indent="0" algn="ctr">
              <a:buNone/>
            </a:pPr>
            <a:r>
              <a:rPr lang="en-US" sz="1400" b="1" dirty="0">
                <a:solidFill>
                  <a:srgbClr val="003F68"/>
                </a:solidFill>
                <a:latin typeface="Calibri" pitchFamily="34" charset="0"/>
                <a:ea typeface="Calibri" pitchFamily="34" charset="-122"/>
                <a:cs typeface="Calibri" pitchFamily="34" charset="-120"/>
              </a:rPr>
              <a:t>Future AI</a:t>
            </a:r>
            <a:endParaRPr lang="en-US" sz="1400" dirty="0"/>
          </a:p>
        </p:txBody>
      </p:sp>
      <p:sp>
        <p:nvSpPr>
          <p:cNvPr id="25" name="Text 23"/>
          <p:cNvSpPr/>
          <p:nvPr/>
        </p:nvSpPr>
        <p:spPr>
          <a:xfrm>
            <a:off x="7315200" y="3291840"/>
            <a:ext cx="1389888" cy="548640"/>
          </a:xfrm>
          <a:prstGeom prst="rect">
            <a:avLst/>
          </a:prstGeom>
          <a:noFill/>
          <a:ln/>
        </p:spPr>
        <p:txBody>
          <a:bodyPr wrap="square" lIns="0" tIns="0" rIns="0" bIns="0" rtlCol="0" anchor="ctr"/>
          <a:lstStyle/>
          <a:p>
            <a:pPr marL="0" indent="0" algn="ctr">
              <a:buNone/>
            </a:pPr>
            <a:r>
              <a:rPr lang="en-US" sz="1000" i="1" dirty="0">
                <a:solidFill>
                  <a:srgbClr val="44790B"/>
                </a:solidFill>
                <a:latin typeface="Calibri" pitchFamily="34" charset="0"/>
                <a:ea typeface="Calibri" pitchFamily="34" charset="-122"/>
                <a:cs typeface="Calibri" pitchFamily="34" charset="-120"/>
              </a:rPr>
              <a:t>Plug in when it wins</a:t>
            </a:r>
            <a:endParaRPr lang="en-US" sz="1000" dirty="0"/>
          </a:p>
        </p:txBody>
      </p:sp>
      <p:sp>
        <p:nvSpPr>
          <p:cNvPr id="26" name="Shape 24"/>
          <p:cNvSpPr/>
          <p:nvPr/>
        </p:nvSpPr>
        <p:spPr>
          <a:xfrm>
            <a:off x="365760" y="4206240"/>
            <a:ext cx="8412480" cy="502920"/>
          </a:xfrm>
          <a:prstGeom prst="rect">
            <a:avLst/>
          </a:prstGeom>
          <a:solidFill>
            <a:srgbClr val="F7F8FA"/>
          </a:solidFill>
          <a:ln w="12700">
            <a:solidFill>
              <a:srgbClr val="007886"/>
            </a:solidFill>
            <a:prstDash val="solid"/>
          </a:ln>
        </p:spPr>
      </p:sp>
      <p:sp>
        <p:nvSpPr>
          <p:cNvPr id="27" name="Text 25"/>
          <p:cNvSpPr/>
          <p:nvPr/>
        </p:nvSpPr>
        <p:spPr>
          <a:xfrm>
            <a:off x="457200" y="4206240"/>
            <a:ext cx="8229600" cy="502920"/>
          </a:xfrm>
          <a:prstGeom prst="rect">
            <a:avLst/>
          </a:prstGeom>
          <a:noFill/>
          <a:ln/>
        </p:spPr>
        <p:txBody>
          <a:bodyPr wrap="square" lIns="0" tIns="0" rIns="0" bIns="0" rtlCol="0" anchor="ctr"/>
          <a:lstStyle/>
          <a:p>
            <a:pPr marL="0" indent="0" algn="ctr">
              <a:buNone/>
            </a:pPr>
            <a:r>
              <a:rPr lang="en-US" sz="1200" b="1" dirty="0">
                <a:solidFill>
                  <a:srgbClr val="007886"/>
                </a:solidFill>
                <a:latin typeface="Calibri" pitchFamily="34" charset="0"/>
                <a:ea typeface="Calibri" pitchFamily="34" charset="-122"/>
                <a:cs typeface="Calibri" pitchFamily="34" charset="-120"/>
              </a:rPr>
              <a:t>We own the process. </a:t>
            </a:r>
            <a:r>
              <a:rPr lang="en-US" sz="1200" dirty="0">
                <a:solidFill>
                  <a:srgbClr val="4D4E53"/>
                </a:solidFill>
                <a:latin typeface="Calibri" pitchFamily="34" charset="0"/>
                <a:ea typeface="Calibri" pitchFamily="34" charset="-122"/>
                <a:cs typeface="Calibri" pitchFamily="34" charset="-120"/>
              </a:rPr>
              <a:t>The AI vendor is a swappable component — not a strategic dependency.</a:t>
            </a:r>
            <a:endParaRPr lang="en-US" sz="1200" dirty="0"/>
          </a:p>
        </p:txBody>
      </p:sp>
      <p:sp>
        <p:nvSpPr>
          <p:cNvPr id="28" name="Text 26"/>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29" name="Text 27"/>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BUSINESS IMPACT</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1188720"/>
          </a:xfrm>
          <a:prstGeom prst="rect">
            <a:avLst/>
          </a:prstGeom>
          <a:noFill/>
          <a:ln/>
        </p:spPr>
        <p:txBody>
          <a:bodyPr wrap="square" lIns="0" tIns="0" rIns="0" bIns="0" rtlCol="0" anchor="ctr"/>
          <a:lstStyle/>
          <a:p>
            <a:pPr marL="0" indent="0">
              <a:buNone/>
            </a:pPr>
            <a:r>
              <a:rPr lang="en-US" sz="3200" b="1" dirty="0">
                <a:solidFill>
                  <a:srgbClr val="003F68"/>
                </a:solidFill>
                <a:latin typeface="Calibri" pitchFamily="34" charset="0"/>
                <a:ea typeface="Calibri" pitchFamily="34" charset="-122"/>
                <a:cs typeface="Calibri" pitchFamily="34" charset="-120"/>
              </a:rPr>
              <a:t>From months to weeks.
</a:t>
            </a:r>
            <a:r>
              <a:rPr lang="en-US" sz="3200" b="1" dirty="0">
                <a:solidFill>
                  <a:srgbClr val="E3780D"/>
                </a:solidFill>
                <a:latin typeface="Calibri" pitchFamily="34" charset="0"/>
                <a:ea typeface="Calibri" pitchFamily="34" charset="-122"/>
                <a:cs typeface="Calibri" pitchFamily="34" charset="-120"/>
              </a:rPr>
              <a:t>From hoping to knowing.</a:t>
            </a:r>
            <a:endParaRPr lang="en-US" sz="3200" dirty="0"/>
          </a:p>
        </p:txBody>
      </p:sp>
      <p:sp>
        <p:nvSpPr>
          <p:cNvPr id="5" name="Shape 3"/>
          <p:cNvSpPr/>
          <p:nvPr/>
        </p:nvSpPr>
        <p:spPr>
          <a:xfrm>
            <a:off x="365760" y="2194560"/>
            <a:ext cx="1965960" cy="45720"/>
          </a:xfrm>
          <a:prstGeom prst="rect">
            <a:avLst/>
          </a:prstGeom>
          <a:solidFill>
            <a:srgbClr val="007886"/>
          </a:solidFill>
          <a:ln w="12700">
            <a:solidFill>
              <a:srgbClr val="007886"/>
            </a:solidFill>
            <a:prstDash val="solid"/>
          </a:ln>
        </p:spPr>
      </p:sp>
      <p:sp>
        <p:nvSpPr>
          <p:cNvPr id="6" name="Shape 4"/>
          <p:cNvSpPr/>
          <p:nvPr/>
        </p:nvSpPr>
        <p:spPr>
          <a:xfrm>
            <a:off x="365760" y="2194560"/>
            <a:ext cx="1965960" cy="2103120"/>
          </a:xfrm>
          <a:prstGeom prst="rect">
            <a:avLst/>
          </a:prstGeom>
          <a:solidFill>
            <a:srgbClr val="FFFFFF"/>
          </a:solidFill>
          <a:ln w="9525">
            <a:solidFill>
              <a:srgbClr val="D9D8D7"/>
            </a:solidFill>
            <a:prstDash val="solid"/>
          </a:ln>
        </p:spPr>
      </p:sp>
      <p:sp>
        <p:nvSpPr>
          <p:cNvPr id="7" name="Text 5"/>
          <p:cNvSpPr/>
          <p:nvPr/>
        </p:nvSpPr>
        <p:spPr>
          <a:xfrm>
            <a:off x="365760" y="2331720"/>
            <a:ext cx="1965960" cy="914400"/>
          </a:xfrm>
          <a:prstGeom prst="rect">
            <a:avLst/>
          </a:prstGeom>
          <a:noFill/>
          <a:ln/>
        </p:spPr>
        <p:txBody>
          <a:bodyPr wrap="square" lIns="0" tIns="0" rIns="0" bIns="0" rtlCol="0" anchor="ctr"/>
          <a:lstStyle/>
          <a:p>
            <a:pPr marL="0" indent="0" algn="ctr">
              <a:buNone/>
            </a:pPr>
            <a:r>
              <a:rPr lang="en-US" sz="3800" b="1" dirty="0">
                <a:solidFill>
                  <a:srgbClr val="007886"/>
                </a:solidFill>
                <a:latin typeface="Calibri" pitchFamily="34" charset="0"/>
                <a:ea typeface="Calibri" pitchFamily="34" charset="-122"/>
                <a:cs typeface="Calibri" pitchFamily="34" charset="-120"/>
              </a:rPr>
              <a:t>2x</a:t>
            </a:r>
            <a:endParaRPr lang="en-US" sz="3800" dirty="0"/>
          </a:p>
        </p:txBody>
      </p:sp>
      <p:sp>
        <p:nvSpPr>
          <p:cNvPr id="8" name="Text 6"/>
          <p:cNvSpPr/>
          <p:nvPr/>
        </p:nvSpPr>
        <p:spPr>
          <a:xfrm>
            <a:off x="457200" y="3246120"/>
            <a:ext cx="1783080" cy="32004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Feature Throughput</a:t>
            </a:r>
            <a:endParaRPr lang="en-US" sz="1300" dirty="0"/>
          </a:p>
        </p:txBody>
      </p:sp>
      <p:sp>
        <p:nvSpPr>
          <p:cNvPr id="9" name="Text 7"/>
          <p:cNvSpPr/>
          <p:nvPr/>
        </p:nvSpPr>
        <p:spPr>
          <a:xfrm>
            <a:off x="457200" y="3584448"/>
            <a:ext cx="1783080" cy="64008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Dev capacity on features: 30-40% to 60-70%</a:t>
            </a:r>
            <a:endParaRPr lang="en-US" sz="1000" dirty="0"/>
          </a:p>
        </p:txBody>
      </p:sp>
      <p:sp>
        <p:nvSpPr>
          <p:cNvPr id="10" name="Shape 8"/>
          <p:cNvSpPr/>
          <p:nvPr/>
        </p:nvSpPr>
        <p:spPr>
          <a:xfrm>
            <a:off x="2514600" y="2194560"/>
            <a:ext cx="1965960" cy="45720"/>
          </a:xfrm>
          <a:prstGeom prst="rect">
            <a:avLst/>
          </a:prstGeom>
          <a:solidFill>
            <a:srgbClr val="E3780D"/>
          </a:solidFill>
          <a:ln w="12700">
            <a:solidFill>
              <a:srgbClr val="E3780D"/>
            </a:solidFill>
            <a:prstDash val="solid"/>
          </a:ln>
        </p:spPr>
      </p:sp>
      <p:sp>
        <p:nvSpPr>
          <p:cNvPr id="11" name="Shape 9"/>
          <p:cNvSpPr/>
          <p:nvPr/>
        </p:nvSpPr>
        <p:spPr>
          <a:xfrm>
            <a:off x="2514600" y="2194560"/>
            <a:ext cx="1965960" cy="2103120"/>
          </a:xfrm>
          <a:prstGeom prst="rect">
            <a:avLst/>
          </a:prstGeom>
          <a:solidFill>
            <a:srgbClr val="FFFFFF"/>
          </a:solidFill>
          <a:ln w="9525">
            <a:solidFill>
              <a:srgbClr val="D9D8D7"/>
            </a:solidFill>
            <a:prstDash val="solid"/>
          </a:ln>
        </p:spPr>
      </p:sp>
      <p:sp>
        <p:nvSpPr>
          <p:cNvPr id="12" name="Text 10"/>
          <p:cNvSpPr/>
          <p:nvPr/>
        </p:nvSpPr>
        <p:spPr>
          <a:xfrm>
            <a:off x="2514600" y="2331720"/>
            <a:ext cx="1965960" cy="914400"/>
          </a:xfrm>
          <a:prstGeom prst="rect">
            <a:avLst/>
          </a:prstGeom>
          <a:noFill/>
          <a:ln/>
        </p:spPr>
        <p:txBody>
          <a:bodyPr wrap="square" lIns="0" tIns="0" rIns="0" bIns="0" rtlCol="0" anchor="ctr"/>
          <a:lstStyle/>
          <a:p>
            <a:pPr marL="0" indent="0" algn="ctr">
              <a:buNone/>
            </a:pPr>
            <a:r>
              <a:rPr lang="en-US" sz="3800" b="1" dirty="0">
                <a:solidFill>
                  <a:srgbClr val="E3780D"/>
                </a:solidFill>
                <a:latin typeface="Calibri" pitchFamily="34" charset="0"/>
                <a:ea typeface="Calibri" pitchFamily="34" charset="-122"/>
                <a:cs typeface="Calibri" pitchFamily="34" charset="-120"/>
              </a:rPr>
              <a:t>5-10x</a:t>
            </a:r>
            <a:endParaRPr lang="en-US" sz="3800" dirty="0"/>
          </a:p>
        </p:txBody>
      </p:sp>
      <p:sp>
        <p:nvSpPr>
          <p:cNvPr id="13" name="Text 11"/>
          <p:cNvSpPr/>
          <p:nvPr/>
        </p:nvSpPr>
        <p:spPr>
          <a:xfrm>
            <a:off x="2606040" y="3246120"/>
            <a:ext cx="1783080" cy="32004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Faster Cycle Time</a:t>
            </a:r>
            <a:endParaRPr lang="en-US" sz="1300" dirty="0"/>
          </a:p>
        </p:txBody>
      </p:sp>
      <p:sp>
        <p:nvSpPr>
          <p:cNvPr id="14" name="Text 12"/>
          <p:cNvSpPr/>
          <p:nvPr/>
        </p:nvSpPr>
        <p:spPr>
          <a:xfrm>
            <a:off x="2606040" y="3584448"/>
            <a:ext cx="1783080" cy="64008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Requirement to PR: days down to hours</a:t>
            </a:r>
            <a:endParaRPr lang="en-US" sz="1000" dirty="0"/>
          </a:p>
        </p:txBody>
      </p:sp>
      <p:sp>
        <p:nvSpPr>
          <p:cNvPr id="15" name="Shape 13"/>
          <p:cNvSpPr/>
          <p:nvPr/>
        </p:nvSpPr>
        <p:spPr>
          <a:xfrm>
            <a:off x="4663440" y="2194560"/>
            <a:ext cx="1965960" cy="45720"/>
          </a:xfrm>
          <a:prstGeom prst="rect">
            <a:avLst/>
          </a:prstGeom>
          <a:solidFill>
            <a:srgbClr val="462C67"/>
          </a:solidFill>
          <a:ln w="12700">
            <a:solidFill>
              <a:srgbClr val="462C67"/>
            </a:solidFill>
            <a:prstDash val="solid"/>
          </a:ln>
        </p:spPr>
      </p:sp>
      <p:sp>
        <p:nvSpPr>
          <p:cNvPr id="16" name="Shape 14"/>
          <p:cNvSpPr/>
          <p:nvPr/>
        </p:nvSpPr>
        <p:spPr>
          <a:xfrm>
            <a:off x="4663440" y="2194560"/>
            <a:ext cx="1965960" cy="2103120"/>
          </a:xfrm>
          <a:prstGeom prst="rect">
            <a:avLst/>
          </a:prstGeom>
          <a:solidFill>
            <a:srgbClr val="FFFFFF"/>
          </a:solidFill>
          <a:ln w="9525">
            <a:solidFill>
              <a:srgbClr val="D9D8D7"/>
            </a:solidFill>
            <a:prstDash val="solid"/>
          </a:ln>
        </p:spPr>
      </p:sp>
      <p:sp>
        <p:nvSpPr>
          <p:cNvPr id="17" name="Text 15"/>
          <p:cNvSpPr/>
          <p:nvPr/>
        </p:nvSpPr>
        <p:spPr>
          <a:xfrm>
            <a:off x="4663440" y="2331720"/>
            <a:ext cx="1965960" cy="914400"/>
          </a:xfrm>
          <a:prstGeom prst="rect">
            <a:avLst/>
          </a:prstGeom>
          <a:noFill/>
          <a:ln/>
        </p:spPr>
        <p:txBody>
          <a:bodyPr wrap="square" lIns="0" tIns="0" rIns="0" bIns="0" rtlCol="0" anchor="ctr"/>
          <a:lstStyle/>
          <a:p>
            <a:pPr marL="0" indent="0" algn="ctr">
              <a:buNone/>
            </a:pPr>
            <a:r>
              <a:rPr lang="en-US" sz="3800" b="1" dirty="0">
                <a:solidFill>
                  <a:srgbClr val="462C67"/>
                </a:solidFill>
                <a:latin typeface="Calibri" pitchFamily="34" charset="0"/>
                <a:ea typeface="Calibri" pitchFamily="34" charset="-122"/>
                <a:cs typeface="Calibri" pitchFamily="34" charset="-120"/>
              </a:rPr>
              <a:t>Near 0</a:t>
            </a:r>
            <a:endParaRPr lang="en-US" sz="3800" dirty="0"/>
          </a:p>
        </p:txBody>
      </p:sp>
      <p:sp>
        <p:nvSpPr>
          <p:cNvPr id="18" name="Text 16"/>
          <p:cNvSpPr/>
          <p:nvPr/>
        </p:nvSpPr>
        <p:spPr>
          <a:xfrm>
            <a:off x="4754880" y="3246120"/>
            <a:ext cx="1783080" cy="32004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PRD Rework</a:t>
            </a:r>
            <a:endParaRPr lang="en-US" sz="1300" dirty="0"/>
          </a:p>
        </p:txBody>
      </p:sp>
      <p:sp>
        <p:nvSpPr>
          <p:cNvPr id="19" name="Text 17"/>
          <p:cNvSpPr/>
          <p:nvPr/>
        </p:nvSpPr>
        <p:spPr>
          <a:xfrm>
            <a:off x="4754880" y="3584448"/>
            <a:ext cx="1783080" cy="64008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AI drills requirements before any code</a:t>
            </a:r>
            <a:endParaRPr lang="en-US" sz="1000" dirty="0"/>
          </a:p>
        </p:txBody>
      </p:sp>
      <p:sp>
        <p:nvSpPr>
          <p:cNvPr id="20" name="Shape 18"/>
          <p:cNvSpPr/>
          <p:nvPr/>
        </p:nvSpPr>
        <p:spPr>
          <a:xfrm>
            <a:off x="6812280" y="2194560"/>
            <a:ext cx="1965960" cy="45720"/>
          </a:xfrm>
          <a:prstGeom prst="rect">
            <a:avLst/>
          </a:prstGeom>
          <a:solidFill>
            <a:srgbClr val="44790B"/>
          </a:solidFill>
          <a:ln w="12700">
            <a:solidFill>
              <a:srgbClr val="44790B"/>
            </a:solidFill>
            <a:prstDash val="solid"/>
          </a:ln>
        </p:spPr>
      </p:sp>
      <p:sp>
        <p:nvSpPr>
          <p:cNvPr id="21" name="Shape 19"/>
          <p:cNvSpPr/>
          <p:nvPr/>
        </p:nvSpPr>
        <p:spPr>
          <a:xfrm>
            <a:off x="6812280" y="2194560"/>
            <a:ext cx="1965960" cy="2103120"/>
          </a:xfrm>
          <a:prstGeom prst="rect">
            <a:avLst/>
          </a:prstGeom>
          <a:solidFill>
            <a:srgbClr val="FFFFFF"/>
          </a:solidFill>
          <a:ln w="9525">
            <a:solidFill>
              <a:srgbClr val="D9D8D7"/>
            </a:solidFill>
            <a:prstDash val="solid"/>
          </a:ln>
        </p:spPr>
      </p:sp>
      <p:sp>
        <p:nvSpPr>
          <p:cNvPr id="22" name="Text 20"/>
          <p:cNvSpPr/>
          <p:nvPr/>
        </p:nvSpPr>
        <p:spPr>
          <a:xfrm>
            <a:off x="6812280" y="2331720"/>
            <a:ext cx="1965960" cy="914400"/>
          </a:xfrm>
          <a:prstGeom prst="rect">
            <a:avLst/>
          </a:prstGeom>
          <a:noFill/>
          <a:ln/>
        </p:spPr>
        <p:txBody>
          <a:bodyPr wrap="square" lIns="0" tIns="0" rIns="0" bIns="0" rtlCol="0" anchor="ctr"/>
          <a:lstStyle/>
          <a:p>
            <a:pPr marL="0" indent="0" algn="ctr">
              <a:buNone/>
            </a:pPr>
            <a:r>
              <a:rPr lang="en-US" sz="3800" b="1" dirty="0">
                <a:solidFill>
                  <a:srgbClr val="44790B"/>
                </a:solidFill>
                <a:latin typeface="Calibri" pitchFamily="34" charset="0"/>
                <a:ea typeface="Calibri" pitchFamily="34" charset="-122"/>
                <a:cs typeface="Calibri" pitchFamily="34" charset="-120"/>
              </a:rPr>
              <a:t>Shift-</a:t>
            </a:r>
            <a:endParaRPr lang="en-US" sz="3800" dirty="0"/>
          </a:p>
          <a:p>
            <a:pPr marL="0" indent="0" algn="ctr">
              <a:buNone/>
            </a:pPr>
            <a:r>
              <a:rPr lang="en-US" sz="3800" b="1" dirty="0">
                <a:solidFill>
                  <a:srgbClr val="44790B"/>
                </a:solidFill>
                <a:latin typeface="Calibri" pitchFamily="34" charset="0"/>
                <a:ea typeface="Calibri" pitchFamily="34" charset="-122"/>
                <a:cs typeface="Calibri" pitchFamily="34" charset="-120"/>
              </a:rPr>
              <a:t>Left 2</a:t>
            </a:r>
            <a:endParaRPr lang="en-US" sz="3800" dirty="0"/>
          </a:p>
        </p:txBody>
      </p:sp>
      <p:sp>
        <p:nvSpPr>
          <p:cNvPr id="23" name="Text 21"/>
          <p:cNvSpPr/>
          <p:nvPr/>
        </p:nvSpPr>
        <p:spPr>
          <a:xfrm>
            <a:off x="6903720" y="3246120"/>
            <a:ext cx="1783080" cy="320040"/>
          </a:xfrm>
          <a:prstGeom prst="rect">
            <a:avLst/>
          </a:prstGeom>
          <a:noFill/>
          <a:ln/>
        </p:spPr>
        <p:txBody>
          <a:bodyPr wrap="square" lIns="0" tIns="0" rIns="0" bIns="0" rtlCol="0" anchor="ctr"/>
          <a:lstStyle/>
          <a:p>
            <a:pPr marL="0" indent="0" algn="ctr">
              <a:buNone/>
            </a:pPr>
            <a:r>
              <a:rPr lang="en-US" sz="1300" b="1" dirty="0">
                <a:solidFill>
                  <a:srgbClr val="003F68"/>
                </a:solidFill>
                <a:latin typeface="Calibri" pitchFamily="34" charset="0"/>
                <a:ea typeface="Calibri" pitchFamily="34" charset="-122"/>
                <a:cs typeface="Calibri" pitchFamily="34" charset="-120"/>
              </a:rPr>
              <a:t>Bugs Caught Early</a:t>
            </a:r>
            <a:endParaRPr lang="en-US" sz="1300" dirty="0"/>
          </a:p>
        </p:txBody>
      </p:sp>
      <p:sp>
        <p:nvSpPr>
          <p:cNvPr id="24" name="Text 22"/>
          <p:cNvSpPr/>
          <p:nvPr/>
        </p:nvSpPr>
        <p:spPr>
          <a:xfrm>
            <a:off x="6903720" y="3584448"/>
            <a:ext cx="1783080" cy="640080"/>
          </a:xfrm>
          <a:prstGeom prst="rect">
            <a:avLst/>
          </a:prstGeom>
          <a:noFill/>
          <a:ln/>
        </p:spPr>
        <p:txBody>
          <a:bodyPr wrap="square" lIns="0" tIns="0" rIns="0" bIns="0" rtlCol="0" anchor="ctr"/>
          <a:lstStyle/>
          <a:p>
            <a:pPr marL="0" indent="0" algn="ctr">
              <a:buNone/>
            </a:pPr>
            <a:r>
              <a:rPr lang="en-US" sz="1000" dirty="0">
                <a:solidFill>
                  <a:srgbClr val="4D4E53"/>
                </a:solidFill>
                <a:latin typeface="Calibri" pitchFamily="34" charset="0"/>
                <a:ea typeface="Calibri" pitchFamily="34" charset="-122"/>
                <a:cs typeface="Calibri" pitchFamily="34" charset="-120"/>
              </a:rPr>
              <a:t>TDD catches defects before code review</a:t>
            </a:r>
            <a:endParaRPr lang="en-US" sz="1000" dirty="0"/>
          </a:p>
        </p:txBody>
      </p:sp>
      <p:sp>
        <p:nvSpPr>
          <p:cNvPr id="25" name="Text 23"/>
          <p:cNvSpPr/>
          <p:nvPr/>
        </p:nvSpPr>
        <p:spPr>
          <a:xfrm>
            <a:off x="365760" y="4407408"/>
            <a:ext cx="8412480" cy="457200"/>
          </a:xfrm>
          <a:prstGeom prst="rect">
            <a:avLst/>
          </a:prstGeom>
          <a:noFill/>
          <a:ln/>
        </p:spPr>
        <p:txBody>
          <a:bodyPr wrap="square" lIns="0" tIns="0" rIns="0" bIns="0" rtlCol="0" anchor="ctr"/>
          <a:lstStyle/>
          <a:p>
            <a:pPr marL="0" indent="0" algn="ctr">
              <a:buNone/>
            </a:pPr>
            <a:r>
              <a:rPr lang="en-US" sz="1100" b="1" i="1" dirty="0">
                <a:solidFill>
                  <a:srgbClr val="007886"/>
                </a:solidFill>
                <a:latin typeface="Calibri" pitchFamily="34" charset="0"/>
                <a:ea typeface="Calibri" pitchFamily="34" charset="-122"/>
                <a:cs typeface="Calibri" pitchFamily="34" charset="-120"/>
              </a:rPr>
              <a:t>10 developers, same headcount — delivering twice the features, with fewer bugs in production.</a:t>
            </a:r>
            <a:endParaRPr lang="en-US" sz="1100" dirty="0"/>
          </a:p>
          <a:p>
            <a:pPr marL="0" indent="0" algn="ctr">
              <a:buNone/>
            </a:pPr>
            <a:r>
              <a:rPr lang="en-US" sz="1100" b="1" i="1" dirty="0">
                <a:solidFill>
                  <a:srgbClr val="007886"/>
                </a:solidFill>
                <a:latin typeface="Calibri" pitchFamily="34" charset="0"/>
                <a:ea typeface="Calibri" pitchFamily="34" charset="-122"/>
                <a:cs typeface="Calibri" pitchFamily="34" charset="-120"/>
              </a:rPr>
              <a:t>Early adopters of this loop are already running autonomous sprints that close hundreds of issues.</a:t>
            </a:r>
            <a:endParaRPr lang="en-US" sz="1100" dirty="0"/>
          </a:p>
        </p:txBody>
      </p:sp>
      <p:sp>
        <p:nvSpPr>
          <p:cNvPr id="26" name="Text 24"/>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27" name="Text 25"/>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SCORECARD</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685800"/>
          </a:xfrm>
          <a:prstGeom prst="rect">
            <a:avLst/>
          </a:prstGeom>
          <a:noFill/>
          <a:ln/>
        </p:spPr>
        <p:txBody>
          <a:bodyPr wrap="square" lIns="0" tIns="0" rIns="0" bIns="0" rtlCol="0" anchor="ctr"/>
          <a:lstStyle/>
          <a:p>
            <a:pPr marL="0" indent="0">
              <a:buNone/>
            </a:pPr>
            <a:r>
              <a:rPr lang="en-US" sz="3000" b="1" dirty="0">
                <a:solidFill>
                  <a:srgbClr val="003F68"/>
                </a:solidFill>
                <a:latin typeface="Calibri" pitchFamily="34" charset="0"/>
                <a:ea typeface="Calibri" pitchFamily="34" charset="-122"/>
                <a:cs typeface="Calibri" pitchFamily="34" charset="-120"/>
              </a:rPr>
              <a:t>Head-to-head — </a:t>
            </a:r>
            <a:r>
              <a:rPr lang="en-US" sz="3000" b="1" dirty="0">
                <a:solidFill>
                  <a:srgbClr val="007886"/>
                </a:solidFill>
                <a:latin typeface="Calibri" pitchFamily="34" charset="0"/>
                <a:ea typeface="Calibri" pitchFamily="34" charset="-122"/>
                <a:cs typeface="Calibri" pitchFamily="34" charset="-120"/>
              </a:rPr>
              <a:t>our loop wins 10 of 10.</a:t>
            </a:r>
            <a:endParaRPr lang="en-US" sz="3000" dirty="0"/>
          </a:p>
        </p:txBody>
      </p:sp>
      <p:sp>
        <p:nvSpPr>
          <p:cNvPr id="5" name="Shape 3"/>
          <p:cNvSpPr/>
          <p:nvPr/>
        </p:nvSpPr>
        <p:spPr>
          <a:xfrm>
            <a:off x="365760" y="1600200"/>
            <a:ext cx="8412480" cy="365760"/>
          </a:xfrm>
          <a:prstGeom prst="rect">
            <a:avLst/>
          </a:prstGeom>
          <a:solidFill>
            <a:srgbClr val="003F68"/>
          </a:solidFill>
          <a:ln w="12700">
            <a:solidFill>
              <a:srgbClr val="003F68"/>
            </a:solidFill>
            <a:prstDash val="solid"/>
          </a:ln>
        </p:spPr>
      </p:sp>
      <p:sp>
        <p:nvSpPr>
          <p:cNvPr id="6" name="Text 4"/>
          <p:cNvSpPr/>
          <p:nvPr/>
        </p:nvSpPr>
        <p:spPr>
          <a:xfrm>
            <a:off x="457200" y="1600200"/>
            <a:ext cx="283464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p>
        </p:txBody>
      </p:sp>
      <p:sp>
        <p:nvSpPr>
          <p:cNvPr id="7" name="Text 5"/>
          <p:cNvSpPr/>
          <p:nvPr/>
        </p:nvSpPr>
        <p:spPr>
          <a:xfrm>
            <a:off x="3474720" y="1600200"/>
            <a:ext cx="27432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Our AI-SDLC Loop</a:t>
            </a:r>
            <a:endParaRPr lang="en-US" sz="1200" dirty="0"/>
          </a:p>
        </p:txBody>
      </p:sp>
      <p:sp>
        <p:nvSpPr>
          <p:cNvPr id="8" name="Text 6"/>
          <p:cNvSpPr/>
          <p:nvPr/>
        </p:nvSpPr>
        <p:spPr>
          <a:xfrm>
            <a:off x="6400800" y="1600200"/>
            <a:ext cx="246888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Spec-Driven Approach</a:t>
            </a:r>
            <a:endParaRPr lang="en-US" sz="1200" dirty="0"/>
          </a:p>
        </p:txBody>
      </p:sp>
      <p:sp>
        <p:nvSpPr>
          <p:cNvPr id="9" name="Shape 7"/>
          <p:cNvSpPr/>
          <p:nvPr/>
        </p:nvSpPr>
        <p:spPr>
          <a:xfrm>
            <a:off x="365760" y="1965960"/>
            <a:ext cx="8412480" cy="320040"/>
          </a:xfrm>
          <a:prstGeom prst="rect">
            <a:avLst/>
          </a:prstGeom>
          <a:solidFill>
            <a:srgbClr val="F7F8FA"/>
          </a:solidFill>
          <a:ln w="3175">
            <a:solidFill>
              <a:srgbClr val="D9D8D7"/>
            </a:solidFill>
            <a:prstDash val="solid"/>
          </a:ln>
        </p:spPr>
      </p:sp>
      <p:sp>
        <p:nvSpPr>
          <p:cNvPr id="10" name="Text 8"/>
          <p:cNvSpPr/>
          <p:nvPr/>
        </p:nvSpPr>
        <p:spPr>
          <a:xfrm>
            <a:off x="457200" y="196596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Requirements clarification</a:t>
            </a:r>
            <a:endParaRPr lang="en-US" sz="1100" dirty="0"/>
          </a:p>
        </p:txBody>
      </p:sp>
      <p:sp>
        <p:nvSpPr>
          <p:cNvPr id="11" name="Text 9"/>
          <p:cNvSpPr/>
          <p:nvPr/>
        </p:nvSpPr>
        <p:spPr>
          <a:xfrm>
            <a:off x="3474720" y="196596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AI drills until clear</a:t>
            </a:r>
            <a:endParaRPr lang="en-US" sz="1100" dirty="0"/>
          </a:p>
        </p:txBody>
      </p:sp>
      <p:sp>
        <p:nvSpPr>
          <p:cNvPr id="12" name="Text 10"/>
          <p:cNvSpPr/>
          <p:nvPr/>
        </p:nvSpPr>
        <p:spPr>
          <a:xfrm>
            <a:off x="6400800" y="196596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Assumes spec is complete</a:t>
            </a:r>
            <a:endParaRPr lang="en-US" sz="1100" dirty="0"/>
          </a:p>
        </p:txBody>
      </p:sp>
      <p:sp>
        <p:nvSpPr>
          <p:cNvPr id="13" name="Shape 11"/>
          <p:cNvSpPr/>
          <p:nvPr/>
        </p:nvSpPr>
        <p:spPr>
          <a:xfrm>
            <a:off x="365760" y="2286000"/>
            <a:ext cx="8412480" cy="320040"/>
          </a:xfrm>
          <a:prstGeom prst="rect">
            <a:avLst/>
          </a:prstGeom>
          <a:solidFill>
            <a:srgbClr val="FFFFFF"/>
          </a:solidFill>
          <a:ln w="3175">
            <a:solidFill>
              <a:srgbClr val="D9D8D7"/>
            </a:solidFill>
            <a:prstDash val="solid"/>
          </a:ln>
        </p:spPr>
      </p:sp>
      <p:sp>
        <p:nvSpPr>
          <p:cNvPr id="14" name="Text 12"/>
          <p:cNvSpPr/>
          <p:nvPr/>
        </p:nvSpPr>
        <p:spPr>
          <a:xfrm>
            <a:off x="457200" y="228600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Quality mechanism</a:t>
            </a:r>
            <a:endParaRPr lang="en-US" sz="1100" dirty="0"/>
          </a:p>
        </p:txBody>
      </p:sp>
      <p:sp>
        <p:nvSpPr>
          <p:cNvPr id="15" name="Text 13"/>
          <p:cNvSpPr/>
          <p:nvPr/>
        </p:nvSpPr>
        <p:spPr>
          <a:xfrm>
            <a:off x="3474720" y="228600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TDD red-green-refactor</a:t>
            </a:r>
            <a:endParaRPr lang="en-US" sz="1100" dirty="0"/>
          </a:p>
        </p:txBody>
      </p:sp>
      <p:sp>
        <p:nvSpPr>
          <p:cNvPr id="16" name="Text 14"/>
          <p:cNvSpPr/>
          <p:nvPr/>
        </p:nvSpPr>
        <p:spPr>
          <a:xfrm>
            <a:off x="6400800" y="228600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None — single pass</a:t>
            </a:r>
            <a:endParaRPr lang="en-US" sz="1100" dirty="0"/>
          </a:p>
        </p:txBody>
      </p:sp>
      <p:sp>
        <p:nvSpPr>
          <p:cNvPr id="17" name="Shape 15"/>
          <p:cNvSpPr/>
          <p:nvPr/>
        </p:nvSpPr>
        <p:spPr>
          <a:xfrm>
            <a:off x="365760" y="2606040"/>
            <a:ext cx="8412480" cy="320040"/>
          </a:xfrm>
          <a:prstGeom prst="rect">
            <a:avLst/>
          </a:prstGeom>
          <a:solidFill>
            <a:srgbClr val="F7F8FA"/>
          </a:solidFill>
          <a:ln w="3175">
            <a:solidFill>
              <a:srgbClr val="D9D8D7"/>
            </a:solidFill>
            <a:prstDash val="solid"/>
          </a:ln>
        </p:spPr>
      </p:sp>
      <p:sp>
        <p:nvSpPr>
          <p:cNvPr id="18" name="Text 16"/>
          <p:cNvSpPr/>
          <p:nvPr/>
        </p:nvSpPr>
        <p:spPr>
          <a:xfrm>
            <a:off x="457200" y="260604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Iterative feedback loop</a:t>
            </a:r>
            <a:endParaRPr lang="en-US" sz="1100" dirty="0"/>
          </a:p>
        </p:txBody>
      </p:sp>
      <p:sp>
        <p:nvSpPr>
          <p:cNvPr id="19" name="Text 17"/>
          <p:cNvSpPr/>
          <p:nvPr/>
        </p:nvSpPr>
        <p:spPr>
          <a:xfrm>
            <a:off x="3474720" y="260604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Loops until green</a:t>
            </a:r>
            <a:endParaRPr lang="en-US" sz="1100" dirty="0"/>
          </a:p>
        </p:txBody>
      </p:sp>
      <p:sp>
        <p:nvSpPr>
          <p:cNvPr id="20" name="Text 18"/>
          <p:cNvSpPr/>
          <p:nvPr/>
        </p:nvSpPr>
        <p:spPr>
          <a:xfrm>
            <a:off x="6400800" y="260604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Linear — spec to code</a:t>
            </a:r>
            <a:endParaRPr lang="en-US" sz="1100" dirty="0"/>
          </a:p>
        </p:txBody>
      </p:sp>
      <p:sp>
        <p:nvSpPr>
          <p:cNvPr id="21" name="Shape 19"/>
          <p:cNvSpPr/>
          <p:nvPr/>
        </p:nvSpPr>
        <p:spPr>
          <a:xfrm>
            <a:off x="365760" y="2926080"/>
            <a:ext cx="8412480" cy="320040"/>
          </a:xfrm>
          <a:prstGeom prst="rect">
            <a:avLst/>
          </a:prstGeom>
          <a:solidFill>
            <a:srgbClr val="FFFFFF"/>
          </a:solidFill>
          <a:ln w="3175">
            <a:solidFill>
              <a:srgbClr val="D9D8D7"/>
            </a:solidFill>
            <a:prstDash val="solid"/>
          </a:ln>
        </p:spPr>
      </p:sp>
      <p:sp>
        <p:nvSpPr>
          <p:cNvPr id="22" name="Text 20"/>
          <p:cNvSpPr/>
          <p:nvPr/>
        </p:nvSpPr>
        <p:spPr>
          <a:xfrm>
            <a:off x="457200" y="292608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Edge-case handling</a:t>
            </a:r>
            <a:endParaRPr lang="en-US" sz="1100" dirty="0"/>
          </a:p>
        </p:txBody>
      </p:sp>
      <p:sp>
        <p:nvSpPr>
          <p:cNvPr id="23" name="Text 21"/>
          <p:cNvSpPr/>
          <p:nvPr/>
        </p:nvSpPr>
        <p:spPr>
          <a:xfrm>
            <a:off x="3474720" y="292608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Dedicated QA step</a:t>
            </a:r>
            <a:endParaRPr lang="en-US" sz="1100" dirty="0"/>
          </a:p>
        </p:txBody>
      </p:sp>
      <p:sp>
        <p:nvSpPr>
          <p:cNvPr id="24" name="Text 22"/>
          <p:cNvSpPr/>
          <p:nvPr/>
        </p:nvSpPr>
        <p:spPr>
          <a:xfrm>
            <a:off x="6400800" y="292608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Depends on spec</a:t>
            </a:r>
            <a:endParaRPr lang="en-US" sz="1100" dirty="0"/>
          </a:p>
        </p:txBody>
      </p:sp>
      <p:sp>
        <p:nvSpPr>
          <p:cNvPr id="25" name="Shape 23"/>
          <p:cNvSpPr/>
          <p:nvPr/>
        </p:nvSpPr>
        <p:spPr>
          <a:xfrm>
            <a:off x="365760" y="3246120"/>
            <a:ext cx="8412480" cy="320040"/>
          </a:xfrm>
          <a:prstGeom prst="rect">
            <a:avLst/>
          </a:prstGeom>
          <a:solidFill>
            <a:srgbClr val="F7F8FA"/>
          </a:solidFill>
          <a:ln w="3175">
            <a:solidFill>
              <a:srgbClr val="D9D8D7"/>
            </a:solidFill>
            <a:prstDash val="solid"/>
          </a:ln>
        </p:spPr>
      </p:sp>
      <p:sp>
        <p:nvSpPr>
          <p:cNvPr id="26" name="Text 24"/>
          <p:cNvSpPr/>
          <p:nvPr/>
        </p:nvSpPr>
        <p:spPr>
          <a:xfrm>
            <a:off x="457200" y="324612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Proving it works end-to-end</a:t>
            </a:r>
            <a:endParaRPr lang="en-US" sz="1100" dirty="0"/>
          </a:p>
        </p:txBody>
      </p:sp>
      <p:sp>
        <p:nvSpPr>
          <p:cNvPr id="27" name="Text 25"/>
          <p:cNvSpPr/>
          <p:nvPr/>
        </p:nvSpPr>
        <p:spPr>
          <a:xfrm>
            <a:off x="3474720" y="324612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Tracer-bullet slices</a:t>
            </a:r>
            <a:endParaRPr lang="en-US" sz="1100" dirty="0"/>
          </a:p>
        </p:txBody>
      </p:sp>
      <p:sp>
        <p:nvSpPr>
          <p:cNvPr id="28" name="Text 26"/>
          <p:cNvSpPr/>
          <p:nvPr/>
        </p:nvSpPr>
        <p:spPr>
          <a:xfrm>
            <a:off x="6400800" y="324612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Spec, then hope</a:t>
            </a:r>
            <a:endParaRPr lang="en-US" sz="1100" dirty="0"/>
          </a:p>
        </p:txBody>
      </p:sp>
      <p:sp>
        <p:nvSpPr>
          <p:cNvPr id="29" name="Shape 27"/>
          <p:cNvSpPr/>
          <p:nvPr/>
        </p:nvSpPr>
        <p:spPr>
          <a:xfrm>
            <a:off x="365760" y="3566160"/>
            <a:ext cx="8412480" cy="320040"/>
          </a:xfrm>
          <a:prstGeom prst="rect">
            <a:avLst/>
          </a:prstGeom>
          <a:solidFill>
            <a:srgbClr val="FFFFFF"/>
          </a:solidFill>
          <a:ln w="3175">
            <a:solidFill>
              <a:srgbClr val="D9D8D7"/>
            </a:solidFill>
            <a:prstDash val="solid"/>
          </a:ln>
        </p:spPr>
      </p:sp>
      <p:sp>
        <p:nvSpPr>
          <p:cNvPr id="30" name="Text 28"/>
          <p:cNvSpPr/>
          <p:nvPr/>
        </p:nvSpPr>
        <p:spPr>
          <a:xfrm>
            <a:off x="457200" y="356616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Vendor independence</a:t>
            </a:r>
            <a:endParaRPr lang="en-US" sz="1100" dirty="0"/>
          </a:p>
        </p:txBody>
      </p:sp>
      <p:sp>
        <p:nvSpPr>
          <p:cNvPr id="31" name="Text 29"/>
          <p:cNvSpPr/>
          <p:nvPr/>
        </p:nvSpPr>
        <p:spPr>
          <a:xfrm>
            <a:off x="3474720" y="356616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Any AI, any stack</a:t>
            </a:r>
            <a:endParaRPr lang="en-US" sz="1100" dirty="0"/>
          </a:p>
        </p:txBody>
      </p:sp>
      <p:sp>
        <p:nvSpPr>
          <p:cNvPr id="32" name="Text 30"/>
          <p:cNvSpPr/>
          <p:nvPr/>
        </p:nvSpPr>
        <p:spPr>
          <a:xfrm>
            <a:off x="6400800" y="356616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Single-vendor lock-in</a:t>
            </a:r>
            <a:endParaRPr lang="en-US" sz="1100" dirty="0"/>
          </a:p>
        </p:txBody>
      </p:sp>
      <p:sp>
        <p:nvSpPr>
          <p:cNvPr id="33" name="Shape 31"/>
          <p:cNvSpPr/>
          <p:nvPr/>
        </p:nvSpPr>
        <p:spPr>
          <a:xfrm>
            <a:off x="365760" y="3886200"/>
            <a:ext cx="8412480" cy="320040"/>
          </a:xfrm>
          <a:prstGeom prst="rect">
            <a:avLst/>
          </a:prstGeom>
          <a:solidFill>
            <a:srgbClr val="F7F8FA"/>
          </a:solidFill>
          <a:ln w="3175">
            <a:solidFill>
              <a:srgbClr val="D9D8D7"/>
            </a:solidFill>
            <a:prstDash val="solid"/>
          </a:ln>
        </p:spPr>
      </p:sp>
      <p:sp>
        <p:nvSpPr>
          <p:cNvPr id="34" name="Text 32"/>
          <p:cNvSpPr/>
          <p:nvPr/>
        </p:nvSpPr>
        <p:spPr>
          <a:xfrm>
            <a:off x="457200" y="388620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Scales for 10-dev team</a:t>
            </a:r>
            <a:endParaRPr lang="en-US" sz="1100" dirty="0"/>
          </a:p>
        </p:txBody>
      </p:sp>
      <p:sp>
        <p:nvSpPr>
          <p:cNvPr id="35" name="Text 33"/>
          <p:cNvSpPr/>
          <p:nvPr/>
        </p:nvSpPr>
        <p:spPr>
          <a:xfrm>
            <a:off x="3474720" y="388620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Parallel loops + templates</a:t>
            </a:r>
            <a:endParaRPr lang="en-US" sz="1100" dirty="0"/>
          </a:p>
        </p:txBody>
      </p:sp>
      <p:sp>
        <p:nvSpPr>
          <p:cNvPr id="36" name="Text 34"/>
          <p:cNvSpPr/>
          <p:nvPr/>
        </p:nvSpPr>
        <p:spPr>
          <a:xfrm>
            <a:off x="6400800" y="388620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Individual spec silos</a:t>
            </a:r>
            <a:endParaRPr lang="en-US" sz="1100" dirty="0"/>
          </a:p>
        </p:txBody>
      </p:sp>
      <p:sp>
        <p:nvSpPr>
          <p:cNvPr id="37" name="Shape 35"/>
          <p:cNvSpPr/>
          <p:nvPr/>
        </p:nvSpPr>
        <p:spPr>
          <a:xfrm>
            <a:off x="365760" y="4206240"/>
            <a:ext cx="8412480" cy="320040"/>
          </a:xfrm>
          <a:prstGeom prst="rect">
            <a:avLst/>
          </a:prstGeom>
          <a:solidFill>
            <a:srgbClr val="FFFFFF"/>
          </a:solidFill>
          <a:ln w="3175">
            <a:solidFill>
              <a:srgbClr val="D9D8D7"/>
            </a:solidFill>
            <a:prstDash val="solid"/>
          </a:ln>
        </p:spPr>
      </p:sp>
      <p:sp>
        <p:nvSpPr>
          <p:cNvPr id="38" name="Text 36"/>
          <p:cNvSpPr/>
          <p:nvPr/>
        </p:nvSpPr>
        <p:spPr>
          <a:xfrm>
            <a:off x="457200" y="4206240"/>
            <a:ext cx="2834640" cy="320040"/>
          </a:xfrm>
          <a:prstGeom prst="rect">
            <a:avLst/>
          </a:prstGeom>
          <a:noFill/>
          <a:ln/>
        </p:spPr>
        <p:txBody>
          <a:bodyPr wrap="square" lIns="0" tIns="0" rIns="0" bIns="0" rtlCol="0" anchor="ctr"/>
          <a:lstStyle/>
          <a:p>
            <a:pPr marL="0" indent="0">
              <a:buNone/>
            </a:pPr>
            <a:r>
              <a:rPr lang="en-US" sz="1100" b="1" dirty="0">
                <a:solidFill>
                  <a:srgbClr val="003F68"/>
                </a:solidFill>
                <a:latin typeface="Calibri" pitchFamily="34" charset="0"/>
                <a:ea typeface="Calibri" pitchFamily="34" charset="-122"/>
                <a:cs typeface="Calibri" pitchFamily="34" charset="-120"/>
              </a:rPr>
              <a:t>Time to catch bugs</a:t>
            </a:r>
            <a:endParaRPr lang="en-US" sz="1100" dirty="0"/>
          </a:p>
        </p:txBody>
      </p:sp>
      <p:sp>
        <p:nvSpPr>
          <p:cNvPr id="39" name="Text 37"/>
          <p:cNvSpPr/>
          <p:nvPr/>
        </p:nvSpPr>
        <p:spPr>
          <a:xfrm>
            <a:off x="3474720" y="4206240"/>
            <a:ext cx="2743200" cy="320040"/>
          </a:xfrm>
          <a:prstGeom prst="rect">
            <a:avLst/>
          </a:prstGeom>
          <a:noFill/>
          <a:ln/>
        </p:spPr>
        <p:txBody>
          <a:bodyPr wrap="square" lIns="0" tIns="0" rIns="0" bIns="0" rtlCol="0" anchor="ctr"/>
          <a:lstStyle/>
          <a:p>
            <a:pPr marL="0" indent="0">
              <a:buNone/>
            </a:pPr>
            <a:r>
              <a:rPr lang="en-US" sz="1100" b="1" dirty="0">
                <a:solidFill>
                  <a:srgbClr val="007886"/>
                </a:solidFill>
                <a:latin typeface="Calibri" pitchFamily="34" charset="0"/>
                <a:ea typeface="Calibri" pitchFamily="34" charset="-122"/>
                <a:cs typeface="Calibri" pitchFamily="34" charset="-120"/>
              </a:rPr>
              <a:t>✓  During development</a:t>
            </a:r>
            <a:endParaRPr lang="en-US" sz="1100" dirty="0"/>
          </a:p>
        </p:txBody>
      </p:sp>
      <p:sp>
        <p:nvSpPr>
          <p:cNvPr id="40" name="Text 38"/>
          <p:cNvSpPr/>
          <p:nvPr/>
        </p:nvSpPr>
        <p:spPr>
          <a:xfrm>
            <a:off x="6400800" y="4206240"/>
            <a:ext cx="2468880" cy="320040"/>
          </a:xfrm>
          <a:prstGeom prst="rect">
            <a:avLst/>
          </a:prstGeom>
          <a:noFill/>
          <a:ln/>
        </p:spPr>
        <p:txBody>
          <a:bodyPr wrap="square" lIns="0" tIns="0" rIns="0" bIns="0" rtlCol="0" anchor="ctr"/>
          <a:lstStyle/>
          <a:p>
            <a:pPr marL="0" indent="0">
              <a:buNone/>
            </a:pPr>
            <a:r>
              <a:rPr lang="en-US" sz="1100" dirty="0">
                <a:solidFill>
                  <a:srgbClr val="CC4444"/>
                </a:solidFill>
                <a:latin typeface="Calibri" pitchFamily="34" charset="0"/>
                <a:ea typeface="Calibri" pitchFamily="34" charset="-122"/>
                <a:cs typeface="Calibri" pitchFamily="34" charset="-120"/>
              </a:rPr>
              <a:t>✕  After deployment</a:t>
            </a:r>
            <a:endParaRPr lang="en-US" sz="1100" dirty="0"/>
          </a:p>
        </p:txBody>
      </p:sp>
      <p:sp>
        <p:nvSpPr>
          <p:cNvPr id="41" name="Text 39"/>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42" name="Text 40"/>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20040"/>
            <a:ext cx="7315200" cy="228600"/>
          </a:xfrm>
          <a:prstGeom prst="rect">
            <a:avLst/>
          </a:prstGeom>
          <a:noFill/>
          <a:ln/>
        </p:spPr>
        <p:txBody>
          <a:bodyPr wrap="square" lIns="0" tIns="0" rIns="0" bIns="0" rtlCol="0" anchor="ctr"/>
          <a:lstStyle/>
          <a:p>
            <a:pPr marL="0" indent="0">
              <a:buNone/>
            </a:pPr>
            <a:r>
              <a:rPr lang="en-US" sz="1000" b="1" kern="0" spc="500" dirty="0">
                <a:solidFill>
                  <a:srgbClr val="007886"/>
                </a:solidFill>
                <a:latin typeface="Calibri" pitchFamily="34" charset="0"/>
                <a:ea typeface="Calibri" pitchFamily="34" charset="-122"/>
                <a:cs typeface="Calibri" pitchFamily="34" charset="-120"/>
              </a:rPr>
              <a:t>RISKS &amp; MITIGATIONS</a:t>
            </a:r>
            <a:endParaRPr lang="en-US" sz="1000" dirty="0"/>
          </a:p>
        </p:txBody>
      </p:sp>
      <p:sp>
        <p:nvSpPr>
          <p:cNvPr id="3" name="Shape 1"/>
          <p:cNvSpPr/>
          <p:nvPr/>
        </p:nvSpPr>
        <p:spPr>
          <a:xfrm>
            <a:off x="365760" y="566928"/>
            <a:ext cx="548640" cy="27432"/>
          </a:xfrm>
          <a:prstGeom prst="rect">
            <a:avLst/>
          </a:prstGeom>
          <a:solidFill>
            <a:srgbClr val="007886"/>
          </a:solidFill>
          <a:ln w="12700">
            <a:solidFill>
              <a:srgbClr val="007886"/>
            </a:solidFill>
            <a:prstDash val="solid"/>
          </a:ln>
        </p:spPr>
      </p:sp>
      <p:sp>
        <p:nvSpPr>
          <p:cNvPr id="4" name="Text 2"/>
          <p:cNvSpPr/>
          <p:nvPr/>
        </p:nvSpPr>
        <p:spPr>
          <a:xfrm>
            <a:off x="365760" y="777240"/>
            <a:ext cx="8412480" cy="1097280"/>
          </a:xfrm>
          <a:prstGeom prst="rect">
            <a:avLst/>
          </a:prstGeom>
          <a:noFill/>
          <a:ln/>
        </p:spPr>
        <p:txBody>
          <a:bodyPr wrap="square" lIns="0" tIns="0" rIns="0" bIns="0" rtlCol="0" anchor="ctr"/>
          <a:lstStyle/>
          <a:p>
            <a:pPr marL="0" indent="0">
              <a:buNone/>
            </a:pPr>
            <a:r>
              <a:rPr lang="en-US" sz="3000" b="1" dirty="0">
                <a:solidFill>
                  <a:srgbClr val="003F68"/>
                </a:solidFill>
                <a:latin typeface="Calibri" pitchFamily="34" charset="0"/>
                <a:ea typeface="Calibri" pitchFamily="34" charset="-122"/>
                <a:cs typeface="Calibri" pitchFamily="34" charset="-120"/>
              </a:rPr>
              <a:t>What could go wrong —</a:t>
            </a:r>
            <a:endParaRPr lang="en-US" sz="3000" dirty="0"/>
          </a:p>
          <a:p>
            <a:pPr marL="0" indent="0">
              <a:buNone/>
            </a:pPr>
            <a:r>
              <a:rPr lang="en-US" sz="3000" b="1" dirty="0">
                <a:solidFill>
                  <a:srgbClr val="003F68"/>
                </a:solidFill>
                <a:latin typeface="Calibri" pitchFamily="34" charset="0"/>
                <a:ea typeface="Calibri" pitchFamily="34" charset="-122"/>
                <a:cs typeface="Calibri" pitchFamily="34" charset="-120"/>
              </a:rPr>
              <a:t>and how we prevent it.</a:t>
            </a:r>
            <a:endParaRPr lang="en-US" sz="3000" dirty="0"/>
          </a:p>
        </p:txBody>
      </p:sp>
      <p:sp>
        <p:nvSpPr>
          <p:cNvPr id="5" name="Shape 3"/>
          <p:cNvSpPr/>
          <p:nvPr/>
        </p:nvSpPr>
        <p:spPr>
          <a:xfrm>
            <a:off x="365760" y="2057400"/>
            <a:ext cx="4206240" cy="1280160"/>
          </a:xfrm>
          <a:prstGeom prst="rect">
            <a:avLst/>
          </a:prstGeom>
          <a:solidFill>
            <a:srgbClr val="FFFFFF"/>
          </a:solidFill>
          <a:ln w="9525">
            <a:solidFill>
              <a:srgbClr val="D9D8D7"/>
            </a:solidFill>
            <a:prstDash val="solid"/>
          </a:ln>
        </p:spPr>
      </p:sp>
      <p:sp>
        <p:nvSpPr>
          <p:cNvPr id="6" name="Shape 4"/>
          <p:cNvSpPr/>
          <p:nvPr/>
        </p:nvSpPr>
        <p:spPr>
          <a:xfrm>
            <a:off x="365760" y="2057400"/>
            <a:ext cx="73152" cy="1280160"/>
          </a:xfrm>
          <a:prstGeom prst="rect">
            <a:avLst/>
          </a:prstGeom>
          <a:solidFill>
            <a:srgbClr val="007886"/>
          </a:solidFill>
          <a:ln w="12700">
            <a:solidFill>
              <a:srgbClr val="007886"/>
            </a:solidFill>
            <a:prstDash val="solid"/>
          </a:ln>
        </p:spPr>
      </p:sp>
      <p:sp>
        <p:nvSpPr>
          <p:cNvPr id="7" name="Shape 5"/>
          <p:cNvSpPr/>
          <p:nvPr/>
        </p:nvSpPr>
        <p:spPr>
          <a:xfrm>
            <a:off x="594360" y="2240280"/>
            <a:ext cx="411480" cy="411480"/>
          </a:xfrm>
          <a:prstGeom prst="ellipse">
            <a:avLst/>
          </a:prstGeom>
          <a:solidFill>
            <a:srgbClr val="007886"/>
          </a:solidFill>
          <a:ln w="12700">
            <a:solidFill>
              <a:srgbClr val="007886"/>
            </a:solidFill>
            <a:prstDash val="solid"/>
          </a:ln>
        </p:spPr>
      </p:sp>
      <p:sp>
        <p:nvSpPr>
          <p:cNvPr id="8" name="Text 6"/>
          <p:cNvSpPr/>
          <p:nvPr/>
        </p:nvSpPr>
        <p:spPr>
          <a:xfrm>
            <a:off x="594360" y="22402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143000" y="2240280"/>
            <a:ext cx="3291840" cy="36576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AI writes wrong tests</a:t>
            </a:r>
            <a:endParaRPr lang="en-US" sz="1400" dirty="0"/>
          </a:p>
        </p:txBody>
      </p:sp>
      <p:sp>
        <p:nvSpPr>
          <p:cNvPr id="10" name="Text 8"/>
          <p:cNvSpPr/>
          <p:nvPr/>
        </p:nvSpPr>
        <p:spPr>
          <a:xfrm>
            <a:off x="1143000" y="2606040"/>
            <a:ext cx="3291840" cy="68580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Tests reviewed at Gate 4. Tracer-bullet slices prove end-to-end behavior before scaling. Approved test patterns go in the shared library.</a:t>
            </a:r>
            <a:endParaRPr lang="en-US" sz="1100" dirty="0"/>
          </a:p>
        </p:txBody>
      </p:sp>
      <p:sp>
        <p:nvSpPr>
          <p:cNvPr id="11" name="Shape 9"/>
          <p:cNvSpPr/>
          <p:nvPr/>
        </p:nvSpPr>
        <p:spPr>
          <a:xfrm>
            <a:off x="4572000" y="2057400"/>
            <a:ext cx="4206240" cy="1280160"/>
          </a:xfrm>
          <a:prstGeom prst="rect">
            <a:avLst/>
          </a:prstGeom>
          <a:solidFill>
            <a:srgbClr val="FFFFFF"/>
          </a:solidFill>
          <a:ln w="9525">
            <a:solidFill>
              <a:srgbClr val="D9D8D7"/>
            </a:solidFill>
            <a:prstDash val="solid"/>
          </a:ln>
        </p:spPr>
      </p:sp>
      <p:sp>
        <p:nvSpPr>
          <p:cNvPr id="12" name="Shape 10"/>
          <p:cNvSpPr/>
          <p:nvPr/>
        </p:nvSpPr>
        <p:spPr>
          <a:xfrm>
            <a:off x="4572000" y="2057400"/>
            <a:ext cx="73152" cy="1280160"/>
          </a:xfrm>
          <a:prstGeom prst="rect">
            <a:avLst/>
          </a:prstGeom>
          <a:solidFill>
            <a:srgbClr val="E3780D"/>
          </a:solidFill>
          <a:ln w="12700">
            <a:solidFill>
              <a:srgbClr val="E3780D"/>
            </a:solidFill>
            <a:prstDash val="solid"/>
          </a:ln>
        </p:spPr>
      </p:sp>
      <p:sp>
        <p:nvSpPr>
          <p:cNvPr id="13" name="Shape 11"/>
          <p:cNvSpPr/>
          <p:nvPr/>
        </p:nvSpPr>
        <p:spPr>
          <a:xfrm>
            <a:off x="4800600" y="2240280"/>
            <a:ext cx="411480" cy="411480"/>
          </a:xfrm>
          <a:prstGeom prst="ellipse">
            <a:avLst/>
          </a:prstGeom>
          <a:solidFill>
            <a:srgbClr val="E3780D"/>
          </a:solidFill>
          <a:ln w="12700">
            <a:solidFill>
              <a:srgbClr val="E3780D"/>
            </a:solidFill>
            <a:prstDash val="solid"/>
          </a:ln>
        </p:spPr>
      </p:sp>
      <p:sp>
        <p:nvSpPr>
          <p:cNvPr id="14" name="Text 12"/>
          <p:cNvSpPr/>
          <p:nvPr/>
        </p:nvSpPr>
        <p:spPr>
          <a:xfrm>
            <a:off x="4800600" y="22402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5349240" y="2240280"/>
            <a:ext cx="3291840" cy="36576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Over-reliance on AI</a:t>
            </a:r>
            <a:endParaRPr lang="en-US" sz="1400" dirty="0"/>
          </a:p>
        </p:txBody>
      </p:sp>
      <p:sp>
        <p:nvSpPr>
          <p:cNvPr id="16" name="Text 14"/>
          <p:cNvSpPr/>
          <p:nvPr/>
        </p:nvSpPr>
        <p:spPr>
          <a:xfrm>
            <a:off x="5349240" y="2606040"/>
            <a:ext cx="3291840" cy="68580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Four human gates enforce judgment. HITL mode is mandatory for architecture, security, and schema changes.</a:t>
            </a:r>
            <a:endParaRPr lang="en-US" sz="1100" dirty="0"/>
          </a:p>
        </p:txBody>
      </p:sp>
      <p:sp>
        <p:nvSpPr>
          <p:cNvPr id="17" name="Shape 15"/>
          <p:cNvSpPr/>
          <p:nvPr/>
        </p:nvSpPr>
        <p:spPr>
          <a:xfrm>
            <a:off x="365760" y="3429000"/>
            <a:ext cx="4206240" cy="1280160"/>
          </a:xfrm>
          <a:prstGeom prst="rect">
            <a:avLst/>
          </a:prstGeom>
          <a:solidFill>
            <a:srgbClr val="FFFFFF"/>
          </a:solidFill>
          <a:ln w="9525">
            <a:solidFill>
              <a:srgbClr val="D9D8D7"/>
            </a:solidFill>
            <a:prstDash val="solid"/>
          </a:ln>
        </p:spPr>
      </p:sp>
      <p:sp>
        <p:nvSpPr>
          <p:cNvPr id="18" name="Shape 16"/>
          <p:cNvSpPr/>
          <p:nvPr/>
        </p:nvSpPr>
        <p:spPr>
          <a:xfrm>
            <a:off x="365760" y="3429000"/>
            <a:ext cx="73152" cy="1280160"/>
          </a:xfrm>
          <a:prstGeom prst="rect">
            <a:avLst/>
          </a:prstGeom>
          <a:solidFill>
            <a:srgbClr val="003F68"/>
          </a:solidFill>
          <a:ln w="12700">
            <a:solidFill>
              <a:srgbClr val="003F68"/>
            </a:solidFill>
            <a:prstDash val="solid"/>
          </a:ln>
        </p:spPr>
      </p:sp>
      <p:sp>
        <p:nvSpPr>
          <p:cNvPr id="19" name="Shape 17"/>
          <p:cNvSpPr/>
          <p:nvPr/>
        </p:nvSpPr>
        <p:spPr>
          <a:xfrm>
            <a:off x="594360" y="3611880"/>
            <a:ext cx="411480" cy="411480"/>
          </a:xfrm>
          <a:prstGeom prst="ellipse">
            <a:avLst/>
          </a:prstGeom>
          <a:solidFill>
            <a:srgbClr val="003F68"/>
          </a:solidFill>
          <a:ln w="12700">
            <a:solidFill>
              <a:srgbClr val="003F68"/>
            </a:solidFill>
            <a:prstDash val="solid"/>
          </a:ln>
        </p:spPr>
      </p:sp>
      <p:sp>
        <p:nvSpPr>
          <p:cNvPr id="20" name="Text 18"/>
          <p:cNvSpPr/>
          <p:nvPr/>
        </p:nvSpPr>
        <p:spPr>
          <a:xfrm>
            <a:off x="594360" y="36118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1143000" y="3611880"/>
            <a:ext cx="3291840" cy="36576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Vendor or tool shifts</a:t>
            </a:r>
            <a:endParaRPr lang="en-US" sz="1400" dirty="0"/>
          </a:p>
        </p:txBody>
      </p:sp>
      <p:sp>
        <p:nvSpPr>
          <p:cNvPr id="22" name="Text 20"/>
          <p:cNvSpPr/>
          <p:nvPr/>
        </p:nvSpPr>
        <p:spPr>
          <a:xfrm>
            <a:off x="1143000" y="3977640"/>
            <a:ext cx="3291840" cy="68580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Process is portable. If Copilot stalls, we swap in another AI — the loop, templates, and skills stay.</a:t>
            </a:r>
            <a:endParaRPr lang="en-US" sz="1100" dirty="0"/>
          </a:p>
        </p:txBody>
      </p:sp>
      <p:sp>
        <p:nvSpPr>
          <p:cNvPr id="23" name="Shape 21"/>
          <p:cNvSpPr/>
          <p:nvPr/>
        </p:nvSpPr>
        <p:spPr>
          <a:xfrm>
            <a:off x="4572000" y="3429000"/>
            <a:ext cx="4206240" cy="1280160"/>
          </a:xfrm>
          <a:prstGeom prst="rect">
            <a:avLst/>
          </a:prstGeom>
          <a:solidFill>
            <a:srgbClr val="FFFFFF"/>
          </a:solidFill>
          <a:ln w="9525">
            <a:solidFill>
              <a:srgbClr val="D9D8D7"/>
            </a:solidFill>
            <a:prstDash val="solid"/>
          </a:ln>
        </p:spPr>
      </p:sp>
      <p:sp>
        <p:nvSpPr>
          <p:cNvPr id="24" name="Shape 22"/>
          <p:cNvSpPr/>
          <p:nvPr/>
        </p:nvSpPr>
        <p:spPr>
          <a:xfrm>
            <a:off x="4572000" y="3429000"/>
            <a:ext cx="73152" cy="1280160"/>
          </a:xfrm>
          <a:prstGeom prst="rect">
            <a:avLst/>
          </a:prstGeom>
          <a:solidFill>
            <a:srgbClr val="44790B"/>
          </a:solidFill>
          <a:ln w="12700">
            <a:solidFill>
              <a:srgbClr val="44790B"/>
            </a:solidFill>
            <a:prstDash val="solid"/>
          </a:ln>
        </p:spPr>
      </p:sp>
      <p:sp>
        <p:nvSpPr>
          <p:cNvPr id="25" name="Shape 23"/>
          <p:cNvSpPr/>
          <p:nvPr/>
        </p:nvSpPr>
        <p:spPr>
          <a:xfrm>
            <a:off x="4800600" y="3611880"/>
            <a:ext cx="411480" cy="411480"/>
          </a:xfrm>
          <a:prstGeom prst="ellipse">
            <a:avLst/>
          </a:prstGeom>
          <a:solidFill>
            <a:srgbClr val="44790B"/>
          </a:solidFill>
          <a:ln w="12700">
            <a:solidFill>
              <a:srgbClr val="44790B"/>
            </a:solidFill>
            <a:prstDash val="solid"/>
          </a:ln>
        </p:spPr>
      </p:sp>
      <p:sp>
        <p:nvSpPr>
          <p:cNvPr id="26" name="Text 24"/>
          <p:cNvSpPr/>
          <p:nvPr/>
        </p:nvSpPr>
        <p:spPr>
          <a:xfrm>
            <a:off x="4800600" y="36118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5"/>
          <p:cNvSpPr/>
          <p:nvPr/>
        </p:nvSpPr>
        <p:spPr>
          <a:xfrm>
            <a:off x="5349240" y="3611880"/>
            <a:ext cx="3291840" cy="365760"/>
          </a:xfrm>
          <a:prstGeom prst="rect">
            <a:avLst/>
          </a:prstGeom>
          <a:noFill/>
          <a:ln/>
        </p:spPr>
        <p:txBody>
          <a:bodyPr wrap="square" lIns="0" tIns="0" rIns="0" bIns="0" rtlCol="0" anchor="ctr"/>
          <a:lstStyle/>
          <a:p>
            <a:pPr marL="0" indent="0">
              <a:buNone/>
            </a:pPr>
            <a:r>
              <a:rPr lang="en-US" sz="1400" b="1" dirty="0">
                <a:solidFill>
                  <a:srgbClr val="003F68"/>
                </a:solidFill>
                <a:latin typeface="Calibri" pitchFamily="34" charset="0"/>
                <a:ea typeface="Calibri" pitchFamily="34" charset="-122"/>
                <a:cs typeface="Calibri" pitchFamily="34" charset="-120"/>
              </a:rPr>
              <a:t>Inconsistency across devs</a:t>
            </a:r>
            <a:endParaRPr lang="en-US" sz="1400" dirty="0"/>
          </a:p>
        </p:txBody>
      </p:sp>
      <p:sp>
        <p:nvSpPr>
          <p:cNvPr id="28" name="Text 26"/>
          <p:cNvSpPr/>
          <p:nvPr/>
        </p:nvSpPr>
        <p:spPr>
          <a:xfrm>
            <a:off x="5349240" y="3977640"/>
            <a:ext cx="3291840" cy="685800"/>
          </a:xfrm>
          <a:prstGeom prst="rect">
            <a:avLst/>
          </a:prstGeom>
          <a:noFill/>
          <a:ln/>
        </p:spPr>
        <p:txBody>
          <a:bodyPr wrap="square" lIns="0" tIns="0" rIns="0" bIns="0" rtlCol="0" anchor="ctr"/>
          <a:lstStyle/>
          <a:p>
            <a:pPr marL="0" indent="0">
              <a:buNone/>
            </a:pPr>
            <a:r>
              <a:rPr lang="en-US" sz="1100" dirty="0">
                <a:solidFill>
                  <a:srgbClr val="4D4E53"/>
                </a:solidFill>
                <a:latin typeface="Calibri" pitchFamily="34" charset="0"/>
                <a:ea typeface="Calibri" pitchFamily="34" charset="-122"/>
                <a:cs typeface="Calibri" pitchFamily="34" charset="-120"/>
              </a:rPr>
              <a:t>Shared skills library and standard gates enforce one process. Every repo, every team, same quality bar.</a:t>
            </a:r>
            <a:endParaRPr lang="en-US" sz="1100" dirty="0"/>
          </a:p>
        </p:txBody>
      </p:sp>
      <p:sp>
        <p:nvSpPr>
          <p:cNvPr id="29" name="Text 27"/>
          <p:cNvSpPr/>
          <p:nvPr/>
        </p:nvSpPr>
        <p:spPr>
          <a:xfrm>
            <a:off x="365760" y="4800600"/>
            <a:ext cx="5486400" cy="228600"/>
          </a:xfrm>
          <a:prstGeom prst="rect">
            <a:avLst/>
          </a:prstGeom>
          <a:noFill/>
          <a:ln/>
        </p:spPr>
        <p:txBody>
          <a:bodyPr wrap="square" lIns="0" tIns="0" rIns="0" bIns="0" rtlCol="0" anchor="ctr"/>
          <a:lstStyle/>
          <a:p>
            <a:pPr marL="0" indent="0">
              <a:buNone/>
            </a:pPr>
            <a:r>
              <a:rPr lang="en-US" sz="1000" dirty="0">
                <a:solidFill>
                  <a:srgbClr val="4D4E53"/>
                </a:solidFill>
                <a:latin typeface="Calibri" pitchFamily="34" charset="0"/>
                <a:ea typeface="Calibri" pitchFamily="34" charset="-122"/>
                <a:cs typeface="Calibri" pitchFamily="34" charset="-120"/>
              </a:rPr>
              <a:t>2026</a:t>
            </a:r>
            <a:endParaRPr lang="en-US" sz="1000" dirty="0"/>
          </a:p>
        </p:txBody>
      </p:sp>
      <p:sp>
        <p:nvSpPr>
          <p:cNvPr id="30" name="Text 28"/>
          <p:cNvSpPr/>
          <p:nvPr/>
        </p:nvSpPr>
        <p:spPr>
          <a:xfrm>
            <a:off x="8503920" y="4800600"/>
            <a:ext cx="457200" cy="228600"/>
          </a:xfrm>
          <a:prstGeom prst="rect">
            <a:avLst/>
          </a:prstGeom>
          <a:noFill/>
          <a:ln/>
        </p:spPr>
        <p:txBody>
          <a:bodyPr wrap="square" lIns="0" tIns="0" rIns="0" bIns="0" rtlCol="0" anchor="ctr"/>
          <a:lstStyle/>
          <a:p>
            <a:pPr marL="0" indent="0" algn="r">
              <a:buNone/>
            </a:pPr>
            <a:r>
              <a:rPr lang="en-US" sz="900" dirty="0">
                <a:solidFill>
                  <a:srgbClr val="4D4E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84A"/>
        </a:solidFill>
        <a:effectLst/>
      </p:bgPr>
    </p:bg>
    <p:spTree>
      <p:nvGrpSpPr>
        <p:cNvPr id="1" name=""/>
        <p:cNvGrpSpPr/>
        <p:nvPr/>
      </p:nvGrpSpPr>
      <p:grpSpPr>
        <a:xfrm>
          <a:off x="0" y="0"/>
          <a:ext cx="0" cy="0"/>
          <a:chOff x="0" y="0"/>
          <a:chExt cx="0" cy="0"/>
        </a:xfrm>
      </p:grpSpPr>
      <p:sp>
        <p:nvSpPr>
          <p:cNvPr id="2" name="Text 0"/>
          <p:cNvSpPr/>
          <p:nvPr/>
        </p:nvSpPr>
        <p:spPr>
          <a:xfrm>
            <a:off x="457200" y="914400"/>
            <a:ext cx="8229600" cy="457200"/>
          </a:xfrm>
          <a:prstGeom prst="rect">
            <a:avLst/>
          </a:prstGeom>
          <a:noFill/>
          <a:ln/>
        </p:spPr>
        <p:txBody>
          <a:bodyPr wrap="square" lIns="0" tIns="0" rIns="0" bIns="0" rtlCol="0" anchor="ctr"/>
          <a:lstStyle/>
          <a:p>
            <a:pPr marL="0" indent="0">
              <a:buNone/>
            </a:pPr>
            <a:r>
              <a:rPr lang="en-US" sz="2200" i="1" dirty="0">
                <a:solidFill>
                  <a:srgbClr val="D9D8D7"/>
                </a:solidFill>
                <a:latin typeface="Calibri" pitchFamily="34" charset="0"/>
                <a:ea typeface="Calibri" pitchFamily="34" charset="-122"/>
                <a:cs typeface="Calibri" pitchFamily="34" charset="-120"/>
              </a:rPr>
              <a:t>Spec-driven tools give you a faster waterfall.</a:t>
            </a:r>
            <a:endParaRPr lang="en-US" sz="2200" dirty="0"/>
          </a:p>
        </p:txBody>
      </p:sp>
      <p:sp>
        <p:nvSpPr>
          <p:cNvPr id="3" name="Text 1"/>
          <p:cNvSpPr/>
          <p:nvPr/>
        </p:nvSpPr>
        <p:spPr>
          <a:xfrm>
            <a:off x="457200" y="1508760"/>
            <a:ext cx="8229600" cy="18288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We give you a </a:t>
            </a:r>
            <a:r>
              <a:rPr lang="en-US" sz="3000" b="1" dirty="0">
                <a:solidFill>
                  <a:srgbClr val="007886"/>
                </a:solidFill>
                <a:latin typeface="Calibri" pitchFamily="34" charset="0"/>
                <a:ea typeface="Calibri" pitchFamily="34" charset="-122"/>
                <a:cs typeface="Calibri" pitchFamily="34" charset="-120"/>
              </a:rPr>
              <a:t>test-driven, iterative,</a:t>
            </a:r>
            <a:endParaRPr lang="en-US" sz="3000" dirty="0"/>
          </a:p>
          <a:p>
            <a:pPr marL="0" indent="0">
              <a:buNone/>
            </a:pPr>
            <a:r>
              <a:rPr lang="en-US" sz="3000" b="1" dirty="0">
                <a:solidFill>
                  <a:srgbClr val="007886"/>
                </a:solidFill>
                <a:latin typeface="Calibri" pitchFamily="34" charset="0"/>
                <a:ea typeface="Calibri" pitchFamily="34" charset="-122"/>
                <a:cs typeface="Calibri" pitchFamily="34" charset="-120"/>
              </a:rPr>
              <a:t>developer-controlled </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AI engine —</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that catches bugs before they exist.</a:t>
            </a:r>
            <a:endParaRPr lang="en-US" sz="3000" dirty="0"/>
          </a:p>
        </p:txBody>
      </p:sp>
      <p:sp>
        <p:nvSpPr>
          <p:cNvPr id="4" name="Shape 2"/>
          <p:cNvSpPr/>
          <p:nvPr/>
        </p:nvSpPr>
        <p:spPr>
          <a:xfrm>
            <a:off x="562356" y="3657600"/>
            <a:ext cx="1051560" cy="411480"/>
          </a:xfrm>
          <a:prstGeom prst="roundRect">
            <a:avLst>
              <a:gd name="adj" fmla="val 13333"/>
            </a:avLst>
          </a:prstGeom>
          <a:solidFill>
            <a:srgbClr val="007886"/>
          </a:solidFill>
          <a:ln w="12700">
            <a:solidFill>
              <a:srgbClr val="007886"/>
            </a:solidFill>
            <a:prstDash val="solid"/>
          </a:ln>
        </p:spPr>
      </p:sp>
      <p:sp>
        <p:nvSpPr>
          <p:cNvPr id="5" name="Text 3"/>
          <p:cNvSpPr/>
          <p:nvPr/>
        </p:nvSpPr>
        <p:spPr>
          <a:xfrm>
            <a:off x="562356"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DRILL</a:t>
            </a:r>
            <a:endParaRPr lang="en-US" sz="1000" dirty="0"/>
          </a:p>
        </p:txBody>
      </p:sp>
      <p:sp>
        <p:nvSpPr>
          <p:cNvPr id="6" name="Shape 4"/>
          <p:cNvSpPr/>
          <p:nvPr/>
        </p:nvSpPr>
        <p:spPr>
          <a:xfrm>
            <a:off x="1723644" y="3657600"/>
            <a:ext cx="1051560" cy="411480"/>
          </a:xfrm>
          <a:prstGeom prst="roundRect">
            <a:avLst>
              <a:gd name="adj" fmla="val 13333"/>
            </a:avLst>
          </a:prstGeom>
          <a:solidFill>
            <a:srgbClr val="009FB8"/>
          </a:solidFill>
          <a:ln w="12700">
            <a:solidFill>
              <a:srgbClr val="009FB8"/>
            </a:solidFill>
            <a:prstDash val="solid"/>
          </a:ln>
        </p:spPr>
      </p:sp>
      <p:sp>
        <p:nvSpPr>
          <p:cNvPr id="7" name="Text 5"/>
          <p:cNvSpPr/>
          <p:nvPr/>
        </p:nvSpPr>
        <p:spPr>
          <a:xfrm>
            <a:off x="1723644"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PRD</a:t>
            </a:r>
            <a:endParaRPr lang="en-US" sz="1000" dirty="0"/>
          </a:p>
        </p:txBody>
      </p:sp>
      <p:sp>
        <p:nvSpPr>
          <p:cNvPr id="8" name="Shape 6"/>
          <p:cNvSpPr/>
          <p:nvPr/>
        </p:nvSpPr>
        <p:spPr>
          <a:xfrm>
            <a:off x="2884932" y="3657600"/>
            <a:ext cx="1051560" cy="411480"/>
          </a:xfrm>
          <a:prstGeom prst="roundRect">
            <a:avLst>
              <a:gd name="adj" fmla="val 13333"/>
            </a:avLst>
          </a:prstGeom>
          <a:solidFill>
            <a:srgbClr val="44790B"/>
          </a:solidFill>
          <a:ln w="12700">
            <a:solidFill>
              <a:srgbClr val="44790B"/>
            </a:solidFill>
            <a:prstDash val="solid"/>
          </a:ln>
        </p:spPr>
      </p:sp>
      <p:sp>
        <p:nvSpPr>
          <p:cNvPr id="9" name="Text 7"/>
          <p:cNvSpPr/>
          <p:nvPr/>
        </p:nvSpPr>
        <p:spPr>
          <a:xfrm>
            <a:off x="2884932"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PLAN</a:t>
            </a:r>
            <a:endParaRPr lang="en-US" sz="1000" dirty="0"/>
          </a:p>
        </p:txBody>
      </p:sp>
      <p:sp>
        <p:nvSpPr>
          <p:cNvPr id="10" name="Shape 8"/>
          <p:cNvSpPr/>
          <p:nvPr/>
        </p:nvSpPr>
        <p:spPr>
          <a:xfrm>
            <a:off x="4046220" y="3657600"/>
            <a:ext cx="1051560" cy="411480"/>
          </a:xfrm>
          <a:prstGeom prst="roundRect">
            <a:avLst>
              <a:gd name="adj" fmla="val 13333"/>
            </a:avLst>
          </a:prstGeom>
          <a:solidFill>
            <a:srgbClr val="E3780D"/>
          </a:solidFill>
          <a:ln w="12700">
            <a:solidFill>
              <a:srgbClr val="E3780D"/>
            </a:solidFill>
            <a:prstDash val="solid"/>
          </a:ln>
        </p:spPr>
      </p:sp>
      <p:sp>
        <p:nvSpPr>
          <p:cNvPr id="11" name="Text 9"/>
          <p:cNvSpPr/>
          <p:nvPr/>
        </p:nvSpPr>
        <p:spPr>
          <a:xfrm>
            <a:off x="4046220"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TESTS</a:t>
            </a:r>
            <a:endParaRPr lang="en-US" sz="1000" dirty="0"/>
          </a:p>
        </p:txBody>
      </p:sp>
      <p:sp>
        <p:nvSpPr>
          <p:cNvPr id="12" name="Shape 10"/>
          <p:cNvSpPr/>
          <p:nvPr/>
        </p:nvSpPr>
        <p:spPr>
          <a:xfrm>
            <a:off x="5207508" y="3657600"/>
            <a:ext cx="1051560" cy="411480"/>
          </a:xfrm>
          <a:prstGeom prst="roundRect">
            <a:avLst>
              <a:gd name="adj" fmla="val 13333"/>
            </a:avLst>
          </a:prstGeom>
          <a:solidFill>
            <a:srgbClr val="462C67"/>
          </a:solidFill>
          <a:ln w="12700">
            <a:solidFill>
              <a:srgbClr val="462C67"/>
            </a:solidFill>
            <a:prstDash val="solid"/>
          </a:ln>
        </p:spPr>
      </p:sp>
      <p:sp>
        <p:nvSpPr>
          <p:cNvPr id="13" name="Text 11"/>
          <p:cNvSpPr/>
          <p:nvPr/>
        </p:nvSpPr>
        <p:spPr>
          <a:xfrm>
            <a:off x="5207508"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BUILD</a:t>
            </a:r>
            <a:endParaRPr lang="en-US" sz="1000" dirty="0"/>
          </a:p>
        </p:txBody>
      </p:sp>
      <p:sp>
        <p:nvSpPr>
          <p:cNvPr id="14" name="Shape 12"/>
          <p:cNvSpPr/>
          <p:nvPr/>
        </p:nvSpPr>
        <p:spPr>
          <a:xfrm>
            <a:off x="6368796" y="3657600"/>
            <a:ext cx="1051560" cy="411480"/>
          </a:xfrm>
          <a:prstGeom prst="roundRect">
            <a:avLst>
              <a:gd name="adj" fmla="val 13333"/>
            </a:avLst>
          </a:prstGeom>
          <a:solidFill>
            <a:srgbClr val="972364"/>
          </a:solidFill>
          <a:ln w="12700">
            <a:solidFill>
              <a:srgbClr val="972364"/>
            </a:solidFill>
            <a:prstDash val="solid"/>
          </a:ln>
        </p:spPr>
      </p:sp>
      <p:sp>
        <p:nvSpPr>
          <p:cNvPr id="15" name="Text 13"/>
          <p:cNvSpPr/>
          <p:nvPr/>
        </p:nvSpPr>
        <p:spPr>
          <a:xfrm>
            <a:off x="6368796"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QA</a:t>
            </a:r>
            <a:endParaRPr lang="en-US" sz="1000" dirty="0"/>
          </a:p>
        </p:txBody>
      </p:sp>
      <p:sp>
        <p:nvSpPr>
          <p:cNvPr id="16" name="Shape 14"/>
          <p:cNvSpPr/>
          <p:nvPr/>
        </p:nvSpPr>
        <p:spPr>
          <a:xfrm>
            <a:off x="7530084" y="3657600"/>
            <a:ext cx="1051560" cy="411480"/>
          </a:xfrm>
          <a:prstGeom prst="roundRect">
            <a:avLst>
              <a:gd name="adj" fmla="val 13333"/>
            </a:avLst>
          </a:prstGeom>
          <a:solidFill>
            <a:srgbClr val="003F68"/>
          </a:solidFill>
          <a:ln w="12700">
            <a:solidFill>
              <a:srgbClr val="003F68"/>
            </a:solidFill>
            <a:prstDash val="solid"/>
          </a:ln>
        </p:spPr>
      </p:sp>
      <p:sp>
        <p:nvSpPr>
          <p:cNvPr id="17" name="Text 15"/>
          <p:cNvSpPr/>
          <p:nvPr/>
        </p:nvSpPr>
        <p:spPr>
          <a:xfrm>
            <a:off x="7530084" y="3657600"/>
            <a:ext cx="105156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APPROVE</a:t>
            </a:r>
            <a:endParaRPr lang="en-US" sz="1000" dirty="0"/>
          </a:p>
        </p:txBody>
      </p:sp>
      <p:sp>
        <p:nvSpPr>
          <p:cNvPr id="18" name="Shape 16"/>
          <p:cNvSpPr/>
          <p:nvPr/>
        </p:nvSpPr>
        <p:spPr>
          <a:xfrm>
            <a:off x="1371600" y="4297680"/>
            <a:ext cx="6400800" cy="457200"/>
          </a:xfrm>
          <a:prstGeom prst="roundRect">
            <a:avLst>
              <a:gd name="adj" fmla="val 16000"/>
            </a:avLst>
          </a:prstGeom>
          <a:solidFill>
            <a:srgbClr val="007886"/>
          </a:solidFill>
          <a:ln w="12700">
            <a:solidFill>
              <a:srgbClr val="007886"/>
            </a:solidFill>
            <a:prstDash val="solid"/>
          </a:ln>
        </p:spPr>
      </p:sp>
      <p:sp>
        <p:nvSpPr>
          <p:cNvPr id="19" name="Text 17"/>
          <p:cNvSpPr/>
          <p:nvPr/>
        </p:nvSpPr>
        <p:spPr>
          <a:xfrm>
            <a:off x="1371600" y="4297680"/>
            <a:ext cx="64008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Any AI. Any stack. Any team size.</a:t>
            </a:r>
            <a:endParaRPr lang="en-US" sz="1600" dirty="0"/>
          </a:p>
        </p:txBody>
      </p:sp>
      <p:sp>
        <p:nvSpPr>
          <p:cNvPr id="20" name="Text 18"/>
          <p:cNvSpPr/>
          <p:nvPr/>
        </p:nvSpPr>
        <p:spPr>
          <a:xfrm>
            <a:off x="457200" y="4846320"/>
            <a:ext cx="5486400" cy="201168"/>
          </a:xfrm>
          <a:prstGeom prst="rect">
            <a:avLst/>
          </a:prstGeom>
          <a:noFill/>
          <a:ln/>
        </p:spPr>
        <p:txBody>
          <a:bodyPr wrap="square" lIns="0" tIns="0" rIns="0" bIns="0" rtlCol="0" anchor="ctr"/>
          <a:lstStyle/>
          <a:p>
            <a:pPr marL="0" indent="0">
              <a:buNone/>
            </a:pPr>
            <a:r>
              <a:rPr lang="en-US" sz="1000" dirty="0">
                <a:solidFill>
                  <a:srgbClr val="D9D8D7"/>
                </a:solidFill>
                <a:latin typeface="Calibri" pitchFamily="34" charset="0"/>
                <a:ea typeface="Calibri" pitchFamily="34" charset="-122"/>
                <a:cs typeface="Calibri" pitchFamily="34" charset="-120"/>
              </a:rPr>
              <a:t>2026</a:t>
            </a:r>
            <a:endParaRPr lang="en-US" sz="1000" dirty="0"/>
          </a:p>
        </p:txBody>
      </p:sp>
      <p:sp>
        <p:nvSpPr>
          <p:cNvPr id="21" name="Text 19"/>
          <p:cNvSpPr/>
          <p:nvPr/>
        </p:nvSpPr>
        <p:spPr>
          <a:xfrm>
            <a:off x="8503920" y="4846320"/>
            <a:ext cx="365760" cy="201168"/>
          </a:xfrm>
          <a:prstGeom prst="rect">
            <a:avLst/>
          </a:prstGeom>
          <a:noFill/>
          <a:ln/>
        </p:spPr>
        <p:txBody>
          <a:bodyPr wrap="square" lIns="0" tIns="0" rIns="0" bIns="0" rtlCol="0" anchor="ctr"/>
          <a:lstStyle/>
          <a:p>
            <a:pPr marL="0" indent="0" algn="r">
              <a:buNone/>
            </a:pPr>
            <a:r>
              <a:rPr lang="en-US" sz="1000" dirty="0">
                <a:solidFill>
                  <a:srgbClr val="D9D8D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4ECBDC-40D6-47A6-A4F7-1E3D320AAB59}">
  <we:reference id="wa200010001" version="1.0.0.1" store="en-US" storeType="OMEX"/>
  <we:alternateReferences>
    <we:reference id="wa200010001" version="1.0.0.1" store="" storeType="OMEX"/>
  </we:alternateReferences>
  <we:properties>
    <we:property name="claude.fileId" value="&quot;8cfe0416-4d0a-4dd8-9fbe-220e6f999b9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1432</TotalTime>
  <Words>1027</Words>
  <Application>Microsoft Office PowerPoint</Application>
  <PresentationFormat>On-screen Show (16:9)</PresentationFormat>
  <Paragraphs>203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AI-SDLC Loop — Executive Briefing</dc:title>
  <dc:subject>PptxGenJS Presentation</dc:subject>
  <dc:creator>PptxGenJS</dc:creator>
  <cp:lastModifiedBy>Kiran Manellore</cp:lastModifiedBy>
  <cp:revision>4</cp:revision>
  <dcterms:created xsi:type="dcterms:W3CDTF">2026-04-20T02:57:54Z</dcterms:created>
  <dcterms:modified xsi:type="dcterms:W3CDTF">2026-04-22T14:48:58Z</dcterms:modified>
</cp:coreProperties>
</file>